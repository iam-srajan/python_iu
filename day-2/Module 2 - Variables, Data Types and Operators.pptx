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2B84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5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33172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2331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8346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Data Types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Operators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21208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how Python stores, labels, and works with data.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1208" y="5257800"/>
            <a:ext cx="10058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 •  First Year  •  Beginner Friendly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Variable?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named location that stores a value in memory — and the value inside it can change.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let us store and reuse data.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has a name and a value.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inside a variable can change anytime.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4434840"/>
            <a:ext cx="5715000" cy="1600200"/>
          </a:xfrm>
          <a:prstGeom prst="roundRect">
            <a:avLst>
              <a:gd name="adj" fmla="val 571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45994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941832" y="45994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1179576" y="45994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89204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print(age)     #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21       # value changed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print(age)     # 21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20116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20840" y="2331720"/>
            <a:ext cx="713232" cy="713232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6" name="Image 1" descr="icons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532888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58952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as a Labeled Box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720840" y="324612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72084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232904" y="320954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has a label — that's the variable name (e.g. age).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720840" y="388620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72084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232904" y="38496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box is a value (e.g. 20).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720840" y="452628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720840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232904" y="44897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look inside anytime using the name.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720840" y="516636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72084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232904" y="51297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replace what's inside with something new.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Variables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you create a variable simply by giving it a name and assigning a value with the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declare a type — Python figures it out automatically.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= sign means “assign this value to this name.”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the value anytime by assigning again.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            # int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99.5         # float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"Riya"        # str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 = True     # bool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print(age, price, name, is_active)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99.5 Riya True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Naming Rules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simple rules decide whether a variable name is valid in Python.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06040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5351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862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Allowed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429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letter or underscore ( _ 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letters, numbers &amp; underscores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 (age and Age are different)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77240" y="4572000"/>
            <a:ext cx="4937760" cy="1645920"/>
          </a:xfrm>
          <a:prstGeom prst="roundRect">
            <a:avLst>
              <a:gd name="adj" fmla="val 5556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78408" y="473659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5" name="Shape 11"/>
          <p:cNvSpPr/>
          <p:nvPr/>
        </p:nvSpPr>
        <p:spPr>
          <a:xfrm>
            <a:off x="1216152" y="473659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Shape 12"/>
          <p:cNvSpPr/>
          <p:nvPr/>
        </p:nvSpPr>
        <p:spPr>
          <a:xfrm>
            <a:off x="1453896" y="473659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51560" y="50292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student_name = "Ravi"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_count = 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age2 = 21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63640" y="2606040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37960" y="2834640"/>
            <a:ext cx="502920" cy="502920"/>
          </a:xfrm>
          <a:prstGeom prst="ellipse">
            <a:avLst/>
          </a:prstGeom>
          <a:solidFill>
            <a:srgbClr val="D9484F"/>
          </a:solidFill>
          <a:ln/>
        </p:spPr>
      </p:sp>
      <p:pic>
        <p:nvPicPr>
          <p:cNvPr id="20" name="Image 2" descr="icons/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953512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178040" y="2862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Allowed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3429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number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contain spaces or hyphens ( - 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Python keyword (e.g. class, if)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537960" y="4572000"/>
            <a:ext cx="4937760" cy="1645920"/>
          </a:xfrm>
          <a:prstGeom prst="roundRect">
            <a:avLst>
              <a:gd name="adj" fmla="val 5556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39128" y="473659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5" name="Shape 20"/>
          <p:cNvSpPr/>
          <p:nvPr/>
        </p:nvSpPr>
        <p:spPr>
          <a:xfrm>
            <a:off x="6976872" y="473659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6" name="Shape 21"/>
          <p:cNvSpPr/>
          <p:nvPr/>
        </p:nvSpPr>
        <p:spPr>
          <a:xfrm>
            <a:off x="7214616" y="473659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812280" y="50292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2age = 20      # starts with number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name = "Ravi"  # has a space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= "CSE"  # class is a keyword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Assignment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lets you assign values to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variables in a single line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keeping your code short and clean.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shuff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5021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and keeps code neat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3" name="Image 2" descr="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0565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9867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initializing related values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02920" y="4590288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70916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590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lines, fewer typing mistakes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0" name="Shape 14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1" name="Shape 15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Different values, different variables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 = 1, 2,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print(a, b, c)   # 1 2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value to multiple variables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y = z = 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print(x, y, z)   # 0 0 0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value that should stay the same throughout a program — like PI or a maximum limit.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B1F3B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0" name="Image 1" descr="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3741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10896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no true built-in constants — writing the name in UPPER_CASE is just a convention that signals “don't change this.”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297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CONSTANTS?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46634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code easier to read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accidental changes to important values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teammates understand your intent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6" name="Shape 12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7" name="Shape 13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MAX_USERS = 100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GRAVITY = 9.8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= PI * radius * radius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UPPER_CASE = “please don't change me”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66960" y="-914400"/>
            <a:ext cx="3291840" cy="329184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in Python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in Python has a data type — it tells Python what kind of data it is, and what you can do with it.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262B52"/>
          </a:solidFill>
          <a:ln/>
        </p:spPr>
      </p:sp>
      <p:sp>
        <p:nvSpPr>
          <p:cNvPr id="11" name="Shape 8"/>
          <p:cNvSpPr/>
          <p:nvPr/>
        </p:nvSpPr>
        <p:spPr>
          <a:xfrm>
            <a:off x="1207008" y="2971800"/>
            <a:ext cx="694944" cy="69494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2" name="Image 1" descr="icons/hash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1363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4360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77240" y="4343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779776" y="26974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262B52"/>
          </a:solidFill>
          <a:ln/>
        </p:spPr>
      </p:sp>
      <p:sp>
        <p:nvSpPr>
          <p:cNvPr id="18" name="Shape 14"/>
          <p:cNvSpPr/>
          <p:nvPr/>
        </p:nvSpPr>
        <p:spPr>
          <a:xfrm>
            <a:off x="3483864" y="2971800"/>
            <a:ext cx="694944" cy="69494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9" name="Image 2" descr="icons/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313639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871216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3054096" y="4343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3054096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2916936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056632" y="26974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262B52"/>
          </a:solidFill>
          <a:ln/>
        </p:spPr>
      </p:sp>
      <p:sp>
        <p:nvSpPr>
          <p:cNvPr id="25" name="Shape 20"/>
          <p:cNvSpPr/>
          <p:nvPr/>
        </p:nvSpPr>
        <p:spPr>
          <a:xfrm>
            <a:off x="5760720" y="2971800"/>
            <a:ext cx="694944" cy="69494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6" name="Image 3" descr="icons/quo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313639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148072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5330952" y="4343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330952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"Hi"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193792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333488" y="26974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262B52"/>
          </a:solidFill>
          <a:ln/>
        </p:spPr>
      </p:sp>
      <p:sp>
        <p:nvSpPr>
          <p:cNvPr id="32" name="Shape 26"/>
          <p:cNvSpPr/>
          <p:nvPr/>
        </p:nvSpPr>
        <p:spPr>
          <a:xfrm>
            <a:off x="8037576" y="2971800"/>
            <a:ext cx="694944" cy="69494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33" name="Image 4" descr="icons/tog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3136392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24928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700" dirty="0"/>
          </a:p>
        </p:txBody>
      </p:sp>
      <p:sp>
        <p:nvSpPr>
          <p:cNvPr id="35" name="Shape 28"/>
          <p:cNvSpPr/>
          <p:nvPr/>
        </p:nvSpPr>
        <p:spPr>
          <a:xfrm>
            <a:off x="7607808" y="4343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7607808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7470648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9610344" y="26974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262B52"/>
          </a:solidFill>
          <a:ln/>
        </p:spPr>
      </p:sp>
      <p:sp>
        <p:nvSpPr>
          <p:cNvPr id="39" name="Shape 32"/>
          <p:cNvSpPr/>
          <p:nvPr/>
        </p:nvSpPr>
        <p:spPr>
          <a:xfrm>
            <a:off x="10314432" y="2971800"/>
            <a:ext cx="694944" cy="69494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40" name="Image 5" descr="icons/b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24" y="3136392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701784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700" dirty="0"/>
          </a:p>
        </p:txBody>
      </p:sp>
      <p:sp>
        <p:nvSpPr>
          <p:cNvPr id="42" name="Shape 34"/>
          <p:cNvSpPr/>
          <p:nvPr/>
        </p:nvSpPr>
        <p:spPr>
          <a:xfrm>
            <a:off x="9884664" y="4343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B1F3B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9884664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9747504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at all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Numbers: int &amp; float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1945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468880"/>
            <a:ext cx="658368" cy="65836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9" name="Image 1" descr="icons/hash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700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4963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 (Integer)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46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— no decimal point. Used for counting things.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977640"/>
            <a:ext cx="4709160" cy="2103120"/>
          </a:xfrm>
          <a:prstGeom prst="roundRect">
            <a:avLst>
              <a:gd name="adj" fmla="val 4348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24128" y="41422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4" name="Shape 10"/>
          <p:cNvSpPr/>
          <p:nvPr/>
        </p:nvSpPr>
        <p:spPr>
          <a:xfrm>
            <a:off x="1261872" y="41422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Shape 11"/>
          <p:cNvSpPr/>
          <p:nvPr/>
        </p:nvSpPr>
        <p:spPr>
          <a:xfrm>
            <a:off x="1499616" y="41422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97280" y="44348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total_students = 60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-5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309360" y="21945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29400" y="2468880"/>
            <a:ext cx="658368" cy="658368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9" name="Image 2" descr="icons/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67004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452360" y="24963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 (Decimal)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629400" y="3246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 a decimal point. Used for measurements &amp; money.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29400" y="3977640"/>
            <a:ext cx="4709160" cy="2103120"/>
          </a:xfrm>
          <a:prstGeom prst="roundRect">
            <a:avLst>
              <a:gd name="adj" fmla="val 4348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30568" y="41422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4" name="Shape 19"/>
          <p:cNvSpPr/>
          <p:nvPr/>
        </p:nvSpPr>
        <p:spPr>
          <a:xfrm>
            <a:off x="7068312" y="41422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5" name="Shape 20"/>
          <p:cNvSpPr/>
          <p:nvPr/>
        </p:nvSpPr>
        <p:spPr>
          <a:xfrm>
            <a:off x="7306056" y="41422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903720" y="44348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99.99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36.6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Strings: str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sequence of characters — letters, numbers, symbols — wrapped in quotes.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26080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single ' ' or double " " quotes.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letters, numbers, spaces &amp; symbols.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immutable — they can't be changed in place.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strings with + (this is called concatenation).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"Riya"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 = 'Hello'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= greeting + " " + name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print(full)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Riya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&amp; None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1945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468880"/>
            <a:ext cx="658368" cy="65836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9" name="Image 1" descr="icons/tog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700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4963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 (Boolean)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of only two values: True or False. Used to make decisions.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4069080"/>
            <a:ext cx="4709160" cy="2011680"/>
          </a:xfrm>
          <a:prstGeom prst="roundRect">
            <a:avLst>
              <a:gd name="adj" fmla="val 4545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24128" y="42336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4" name="Shape 10"/>
          <p:cNvSpPr/>
          <p:nvPr/>
        </p:nvSpPr>
        <p:spPr>
          <a:xfrm>
            <a:off x="1261872" y="42336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Shape 11"/>
          <p:cNvSpPr/>
          <p:nvPr/>
        </p:nvSpPr>
        <p:spPr>
          <a:xfrm>
            <a:off x="1499616" y="42336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97280" y="45262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is_raining =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is_sunny =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print(is_raining)  # True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309360" y="21945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29400" y="2468880"/>
            <a:ext cx="658368" cy="658368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9" name="Image 2" descr="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267004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452360" y="24963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(Empty Value)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62940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“no value” or “nothing yet” — often used as a placeholder.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29400" y="4069080"/>
            <a:ext cx="4709160" cy="2011680"/>
          </a:xfrm>
          <a:prstGeom prst="roundRect">
            <a:avLst>
              <a:gd name="adj" fmla="val 4545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30568" y="42336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4" name="Shape 19"/>
          <p:cNvSpPr/>
          <p:nvPr/>
        </p:nvSpPr>
        <p:spPr>
          <a:xfrm>
            <a:off x="7068312" y="42336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5" name="Shape 20"/>
          <p:cNvSpPr/>
          <p:nvPr/>
        </p:nvSpPr>
        <p:spPr>
          <a:xfrm>
            <a:off x="7306056" y="42336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903720" y="45262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None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None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hasn't been set yet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Data Types: type()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built-in function that tells you the data type of any value or variable.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useful while debugging.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exactly what kind of data you're working with.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commonly used functions for beginners.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5120640"/>
            <a:ext cx="822960" cy="82296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03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5120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type() returns the type wrapped as &lt;class '...'&gt;.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4" name="Shape 10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Shape 11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99.99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"Riya"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 =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print(type(price))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print(type(name))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print(type(is_active))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  &lt;class 'float'&gt;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  &lt;class 'bool'&gt;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 means changing a value from one data type to another, using a built-in function.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060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85900" y="283464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hash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4" y="29809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85800" y="411480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12142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2960" y="42062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int("25")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25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337560" y="26060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20540" y="283464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6" name="Image 2" descr="icons/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29809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33756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3520440" y="411480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12142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657600" y="42062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float("3.14")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3.14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26060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55180" y="283464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2" name="Image 3" descr="icons/quo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484" y="298094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7220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str()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355080" y="411480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12142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92240" y="42062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str(25)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"25"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006840" y="26060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989820" y="283464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8" name="Image 4" descr="icons/tog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124" y="298094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00684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bool()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9189720" y="411480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12142B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9326880" y="42062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bool(0)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False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13333"/>
            </a:avLst>
          </a:prstGeom>
          <a:solidFill>
            <a:srgbClr val="1B1F3B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77240" y="562356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convert types?  </a:t>
            </a:r>
            <a:pPr indent="0" marL="0">
              <a:buNone/>
            </a:pPr>
            <a:r>
              <a:rPr lang="en-US" sz="12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from the user always comes in as a string — so we convert it to int/float before doing math with it.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perform mathematical calculations on numbers.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269748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3182112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" y="318211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3666744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3666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69848" y="415137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4636008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46360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Division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02920" y="5120640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" y="5120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69848" y="51206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(remainder)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02920" y="5605272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2920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69848" y="56052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(power)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31" name="Shape 2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2" name="Shape 2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    # 13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- b)    # 7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b)    # 30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/ b)    # 3.333...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// b)   #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% b)    # 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** b)   # 1000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Operators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assign values to variables — often as a shortcut for “update and store.”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" y="26974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value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3264408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" y="32644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assign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" y="3831336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" y="383133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and assign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" y="4398264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88136" y="43982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and assign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4965192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88136" y="496519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assign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5" name="Shape 22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6" name="Shape 23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3    # same as x = x + 3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# 8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2    # x = x - 2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# 6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    # x = x * 2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# 12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compare two values — the result is always True or False.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269748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3209544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" y="32095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3721608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37216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233672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69848" y="42336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4745736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47457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or equal to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02920" y="5257800"/>
            <a:ext cx="402336" cy="402336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69848" y="52578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or equal to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8" name="Shape 25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9" name="Shape 26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== b)   #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!= b)   #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&gt; b)    #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&lt; b)    #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&gt;= b)   #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&lt;= b)   # True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combine two or more conditions — the result is always True or False.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9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81635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True only if BOTH conditions are true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2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021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True if AT LEAST ONE condition is true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02920" y="406908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5" name="Image 3" descr="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18795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reverses the result (True becomes False)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920" y="480060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77240" y="48006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ride the roller coaster only if age ≥ 12 AND height ≥ 150cm — both conditions must be true.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1" name="Shape 15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2" name="Shape 16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 = 160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&gt;= 12 and height &gt;= 150)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&lt; 12 or height &lt; 150)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print(not(age &lt; 12))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Operators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check whether a value exists inside a sequence, like a list or a string.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9" name="Image 1" descr="icons/list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706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— True if the value IS found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2" name="Image 2" descr="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478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— True if the value is NOT found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02920" y="429768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1520" y="4526280"/>
            <a:ext cx="640080" cy="64008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6" name="Image 3" descr="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67258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480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used: checking if an item is in a list, a letter is in a word, or a key is in a dictionary.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0" name="Shape 14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1" name="Shape 15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"mango"]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print("banana" in fruits)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print("grapes" in fruits)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print("grapes" not in fruits)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3544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235440" y="384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Operators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check whether two variables point to the exact same object in memory — not just an equal value.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9" name="Image 1" descr="icons/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8620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— True if they ARE the same object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2" name="Image 2" descr="icons/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393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520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— True if they are NOT the same object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02920" y="438912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1B1F3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777240" y="43891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identity (same object in memory).
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equality (same value).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8" name="Shape 13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Shape 14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[1, 2, 3]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b)    #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c)    #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== c)    #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is the same list as a.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 only looks the same.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Variables, Data Types &amp; Operators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280160" y="3657600"/>
            <a:ext cx="3657600" cy="365760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332720" y="-1280160"/>
            <a:ext cx="3108960" cy="3108960"/>
          </a:xfrm>
          <a:prstGeom prst="ellipse">
            <a:avLst/>
          </a:prstGeom>
          <a:solidFill>
            <a:srgbClr val="F2B84B">
              <a:alpha val="18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Speak Python's Basics!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variables, data types, and operators — the essential building blocks of every Python program.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31920" y="4206240"/>
            <a:ext cx="4297680" cy="502920"/>
          </a:xfrm>
          <a:prstGeom prst="roundRect">
            <a:avLst>
              <a:gd name="adj" fmla="val 49091"/>
            </a:avLst>
          </a:prstGeom>
          <a:solidFill>
            <a:srgbClr val="F2B84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931920" y="4206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MODULE 3 — CONDITIONAL STATEMENTS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  •  Supercharging Progress™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2026-09-24T05:39:32Z</dcterms:created>
  <dcterms:modified xsi:type="dcterms:W3CDTF">2026-09-24T05:39:32Z</dcterms:modified>
</cp:coreProperties>
</file>