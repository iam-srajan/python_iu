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3.png"/><Relationship Id="rId6" Type="http://schemas.openxmlformats.org/officeDocument/2006/relationships/image" Target="../media/image-4-6.png"/><Relationship Id="rId7" Type="http://schemas.openxmlformats.org/officeDocument/2006/relationships/image" Target="../media/image-4-3.png"/><Relationship Id="rId8" Type="http://schemas.openxmlformats.org/officeDocument/2006/relationships/image" Target="../media/image-4-8.png"/><Relationship Id="rId9" Type="http://schemas.openxmlformats.org/officeDocument/2006/relationships/image" Target="../media/image-4-3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6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3.png"/><Relationship Id="rId6" Type="http://schemas.openxmlformats.org/officeDocument/2006/relationships/image" Target="../media/image-9-6.png"/><Relationship Id="rId7" Type="http://schemas.openxmlformats.org/officeDocument/2006/relationships/image" Target="../media/image-9-3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5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4.png"/><Relationship Id="rId11" Type="http://schemas.openxmlformats.org/officeDocument/2006/relationships/image" Target="../media/image-1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3.png"/><Relationship Id="rId6" Type="http://schemas.openxmlformats.org/officeDocument/2006/relationships/image" Target="../media/image-14-6.png"/><Relationship Id="rId7" Type="http://schemas.openxmlformats.org/officeDocument/2006/relationships/image" Target="../media/image-14-3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image" Target="../media/image-20-2.png"/><Relationship Id="rId4" Type="http://schemas.openxmlformats.org/officeDocument/2006/relationships/image" Target="../media/image-20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E405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F2B84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92608"/>
            <a:ext cx="1591056" cy="33832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</p:spPr>
      </p:sp>
      <p:pic>
        <p:nvPicPr>
          <p:cNvPr id="5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365760"/>
            <a:ext cx="1371600" cy="1920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2331720"/>
            <a:ext cx="2331720" cy="402336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02920" y="233172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83464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Programming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Python</a:t>
            </a:r>
            <a:endParaRPr lang="en-US" sz="4600" dirty="0"/>
          </a:p>
        </p:txBody>
      </p:sp>
      <p:sp>
        <p:nvSpPr>
          <p:cNvPr id="9" name="Text 6"/>
          <p:cNvSpPr txBox="1"/>
          <p:nvPr/>
        </p:nvSpPr>
        <p:spPr>
          <a:xfrm>
            <a:off x="521208" y="4617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Understand what programming is — before writing complex code.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21208" y="5257800"/>
            <a:ext cx="1005840" cy="0"/>
          </a:xfrm>
          <a:prstGeom prst="line">
            <a:avLst/>
          </a:prstGeom>
          <a:noFill/>
          <a:ln w="31750">
            <a:solidFill>
              <a:srgbClr val="F2B84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21208" y="5394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 •  First Year  •  Beginner Friendly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HCLTech Career Shaper™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052560" y="38404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052560" y="3840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Computer Program?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0574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 program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set of step-by-step instructions that tells a computer exactly what to do.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3063240"/>
            <a:ext cx="5577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cannot think on their own — they only follow instructions.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instruction must be precise, clear, and in the correct order.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can be as small as one line, or millions of lines long.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0" y="2057400"/>
            <a:ext cx="530352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720840" y="2377440"/>
            <a:ext cx="713232" cy="713232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11" name="Image 1" descr="icons/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008" y="257860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589520" y="24231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Analogy: A Recipe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720840" y="3337560"/>
            <a:ext cx="347472" cy="347472"/>
          </a:xfrm>
          <a:prstGeom prst="ellipse">
            <a:avLst/>
          </a:prstGeom>
          <a:solidFill>
            <a:srgbClr val="2E4057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720840" y="3337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7232904" y="3300984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recipe gives exact steps to cook a dish.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720840" y="3959352"/>
            <a:ext cx="347472" cy="347472"/>
          </a:xfrm>
          <a:prstGeom prst="ellipse">
            <a:avLst/>
          </a:prstGeom>
          <a:solidFill>
            <a:srgbClr val="2E4057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720840" y="3959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7232904" y="3922776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gives exact steps to solve a problem.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720840" y="4581144"/>
            <a:ext cx="347472" cy="347472"/>
          </a:xfrm>
          <a:prstGeom prst="ellipse">
            <a:avLst/>
          </a:prstGeom>
          <a:solidFill>
            <a:srgbClr val="2E405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720840" y="4581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7232904" y="4544568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a step or get the order wrong — the result breaks.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720840" y="5202936"/>
            <a:ext cx="347472" cy="347472"/>
          </a:xfrm>
          <a:prstGeom prst="ellipse">
            <a:avLst/>
          </a:prstGeom>
          <a:solidFill>
            <a:srgbClr val="2E4057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720840" y="5202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7232904" y="5166360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it correctly — you get the expected output, every time.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•  Introduction to Programming &amp; Python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052560" y="38404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052560" y="3840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Learn Programming?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01168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</a:t>
            </a:r>
            <a:pPr indent="0" marL="0"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us solve real problems using computers.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606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ALLOWS US TO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2971800"/>
            <a:ext cx="457200" cy="45720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0" name="Image 1" descr="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09067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97280" y="2971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repetitive tasks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02920" y="3538728"/>
            <a:ext cx="457200" cy="45720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3" name="Image 2" descr="icons/laptop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65760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97280" y="35387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applications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02920" y="4105656"/>
            <a:ext cx="457200" cy="45720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6" name="Image 3" descr="icons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224528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97280" y="410565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data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502920" y="4672584"/>
            <a:ext cx="457200" cy="45720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9" name="Image 4" descr="icons/glob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791456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097280" y="46725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websites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502920" y="5239512"/>
            <a:ext cx="457200" cy="45720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22" name="Image 5" descr="icons/robo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5358384"/>
            <a:ext cx="219456" cy="21945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097280" y="52395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AI systems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6400800" y="2011680"/>
            <a:ext cx="53035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6720840" y="2331720"/>
            <a:ext cx="713232" cy="713232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26" name="Image 6" descr="icons/char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2008" y="2532888"/>
            <a:ext cx="310896" cy="310896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589520" y="23774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Real-Life Example</a:t>
            </a:r>
            <a:endParaRPr lang="en-US" sz="1800" dirty="0"/>
          </a:p>
        </p:txBody>
      </p:sp>
      <p:sp>
        <p:nvSpPr>
          <p:cNvPr id="28" name="Shape 19"/>
          <p:cNvSpPr/>
          <p:nvPr/>
        </p:nvSpPr>
        <p:spPr>
          <a:xfrm>
            <a:off x="6720840" y="3291840"/>
            <a:ext cx="347472" cy="347472"/>
          </a:xfrm>
          <a:prstGeom prst="ellipse">
            <a:avLst/>
          </a:prstGeom>
          <a:solidFill>
            <a:srgbClr val="2E4057"/>
          </a:solidFill>
          <a:ln/>
        </p:spPr>
      </p:sp>
      <p:sp>
        <p:nvSpPr>
          <p:cNvPr id="29" name="Text 20"/>
          <p:cNvSpPr txBox="1"/>
          <p:nvPr/>
        </p:nvSpPr>
        <p:spPr>
          <a:xfrm>
            <a:off x="6720840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Text 21"/>
          <p:cNvSpPr txBox="1"/>
          <p:nvPr/>
        </p:nvSpPr>
        <p:spPr>
          <a:xfrm>
            <a:off x="7232904" y="3255264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receives 10,000 customer records every single day.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6720840" y="4160520"/>
            <a:ext cx="347472" cy="347472"/>
          </a:xfrm>
          <a:prstGeom prst="ellipse">
            <a:avLst/>
          </a:prstGeom>
          <a:solidFill>
            <a:srgbClr val="2E4057"/>
          </a:solidFill>
          <a:ln/>
        </p:spPr>
      </p:sp>
      <p:sp>
        <p:nvSpPr>
          <p:cNvPr id="32" name="Text 23"/>
          <p:cNvSpPr txBox="1"/>
          <p:nvPr/>
        </p:nvSpPr>
        <p:spPr>
          <a:xfrm>
            <a:off x="6720840" y="4160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7232904" y="4123944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each one manually would take a team hours, or days.</a:t>
            </a:r>
            <a:endParaRPr lang="en-US" sz="1300" dirty="0"/>
          </a:p>
        </p:txBody>
      </p:sp>
      <p:sp>
        <p:nvSpPr>
          <p:cNvPr id="34" name="Shape 25"/>
          <p:cNvSpPr/>
          <p:nvPr/>
        </p:nvSpPr>
        <p:spPr>
          <a:xfrm>
            <a:off x="6720840" y="5029200"/>
            <a:ext cx="347472" cy="347472"/>
          </a:xfrm>
          <a:prstGeom prst="ellipse">
            <a:avLst/>
          </a:prstGeom>
          <a:solidFill>
            <a:srgbClr val="2E4057"/>
          </a:solidFill>
          <a:ln/>
        </p:spPr>
      </p:sp>
      <p:sp>
        <p:nvSpPr>
          <p:cNvPr id="35" name="Text 26"/>
          <p:cNvSpPr txBox="1"/>
          <p:nvPr/>
        </p:nvSpPr>
        <p:spPr>
          <a:xfrm>
            <a:off x="6720840" y="5029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27"/>
          <p:cNvSpPr txBox="1"/>
          <p:nvPr/>
        </p:nvSpPr>
        <p:spPr>
          <a:xfrm>
            <a:off x="7232904" y="4992624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can read, check, and process all of them automatically — in seconds.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•  Introduction to Programming &amp; Python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052560" y="38404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052560" y="3840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Programming?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0116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process of writing, testing, and fixing instructions (code) that tell a computer how to solve a problem.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94360" y="324612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11580" y="3566160"/>
            <a:ext cx="822960" cy="82296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0" name="Image 1" descr="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748" y="376732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94360" y="2916936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45720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</a:t>
            </a:r>
            <a:endParaRPr lang="en-US" sz="13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50" dirty="0"/>
          </a:p>
        </p:txBody>
      </p:sp>
      <p:pic>
        <p:nvPicPr>
          <p:cNvPr id="13" name="Image 2" descr="icons/arrow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048" y="4306824"/>
            <a:ext cx="164592" cy="25603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2852928" y="324612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470148" y="3566160"/>
            <a:ext cx="822960" cy="822960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16" name="Image 3" descr="icons/bo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1316" y="3767328"/>
            <a:ext cx="420624" cy="42062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852928" y="2916936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2944368" y="45720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</a:t>
            </a:r>
            <a:endParaRPr lang="en-US" sz="13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50" dirty="0"/>
          </a:p>
        </p:txBody>
      </p:sp>
      <p:pic>
        <p:nvPicPr>
          <p:cNvPr id="19" name="Image 4" descr="icons/arrow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616" y="4306824"/>
            <a:ext cx="164592" cy="25603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5111496" y="324612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5728716" y="3566160"/>
            <a:ext cx="822960" cy="82296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22" name="Image 5" descr="icons/co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9884" y="3767328"/>
            <a:ext cx="420624" cy="420624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5111496" y="2916936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5202936" y="45720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</a:t>
            </a:r>
            <a:endParaRPr lang="en-US" sz="13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50" dirty="0"/>
          </a:p>
        </p:txBody>
      </p:sp>
      <p:pic>
        <p:nvPicPr>
          <p:cNvPr id="25" name="Image 6" descr="icons/arrowRig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7184" y="4306824"/>
            <a:ext cx="164592" cy="256032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7370064" y="324612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27" name="Shape 18"/>
          <p:cNvSpPr/>
          <p:nvPr/>
        </p:nvSpPr>
        <p:spPr>
          <a:xfrm>
            <a:off x="7987284" y="3566160"/>
            <a:ext cx="822960" cy="822960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28" name="Image 7" descr="icons/vi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8452" y="3767328"/>
            <a:ext cx="420624" cy="420624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7370064" y="2916936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0"/>
          <p:cNvSpPr txBox="1"/>
          <p:nvPr/>
        </p:nvSpPr>
        <p:spPr>
          <a:xfrm>
            <a:off x="7461504" y="45720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</a:t>
            </a:r>
            <a:endParaRPr lang="en-US" sz="13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Thoroughly</a:t>
            </a:r>
            <a:endParaRPr lang="en-US" sz="1350" dirty="0"/>
          </a:p>
        </p:txBody>
      </p:sp>
      <p:pic>
        <p:nvPicPr>
          <p:cNvPr id="31" name="Image 8" descr="icons/arrowRigh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45752" y="4306824"/>
            <a:ext cx="164592" cy="256032"/>
          </a:xfrm>
          <a:prstGeom prst="rect">
            <a:avLst/>
          </a:prstGeom>
        </p:spPr>
      </p:pic>
      <p:sp>
        <p:nvSpPr>
          <p:cNvPr id="32" name="Shape 21"/>
          <p:cNvSpPr/>
          <p:nvPr/>
        </p:nvSpPr>
        <p:spPr>
          <a:xfrm>
            <a:off x="9628632" y="324612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33" name="Shape 22"/>
          <p:cNvSpPr/>
          <p:nvPr/>
        </p:nvSpPr>
        <p:spPr>
          <a:xfrm>
            <a:off x="10245852" y="3566160"/>
            <a:ext cx="822960" cy="82296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34" name="Image 9" descr="icons/bug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47020" y="3767328"/>
            <a:ext cx="420624" cy="420624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9628632" y="2916936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24"/>
          <p:cNvSpPr txBox="1"/>
          <p:nvPr/>
        </p:nvSpPr>
        <p:spPr>
          <a:xfrm>
            <a:off x="9720072" y="45720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&amp;</a:t>
            </a:r>
            <a:endParaRPr lang="en-US" sz="13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350" dirty="0"/>
          </a:p>
        </p:txBody>
      </p:sp>
      <p:sp>
        <p:nvSpPr>
          <p:cNvPr id="37" name="Text 25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•  Introduction to Programming &amp; Python</a:t>
            </a:r>
            <a:endParaRPr lang="en-US" sz="900" dirty="0"/>
          </a:p>
        </p:txBody>
      </p:sp>
      <p:sp>
        <p:nvSpPr>
          <p:cNvPr id="38" name="Text 26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052560" y="38404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052560" y="3840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Algorithm?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01168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algorithm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step-by-step procedure to solve a problem — it explains the logic of a solution before any code is written.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926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ALGORITHM IS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3291840"/>
            <a:ext cx="438912" cy="438912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0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037" y="3405957"/>
            <a:ext cx="210678" cy="21067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78992" y="329184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of clear steps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02920" y="3840480"/>
            <a:ext cx="438912" cy="438912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37" y="3954597"/>
            <a:ext cx="210678" cy="21067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78992" y="384048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— it must end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02920" y="4389120"/>
            <a:ext cx="438912" cy="438912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6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037" y="4503237"/>
            <a:ext cx="210678" cy="21067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78992" y="438912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logical order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502920" y="4937760"/>
            <a:ext cx="438912" cy="438912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9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037" y="5051877"/>
            <a:ext cx="210678" cy="21067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078992" y="493776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understand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6400800" y="2011680"/>
            <a:ext cx="530352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6720840" y="2286000"/>
            <a:ext cx="640080" cy="640080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23" name="Image 5" descr="icons/lightbul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7144" y="2432304"/>
            <a:ext cx="347472" cy="34747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498080" y="23317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Real-Life Example: Making Tea</a:t>
            </a:r>
            <a:endParaRPr lang="en-US" sz="1650" dirty="0"/>
          </a:p>
        </p:txBody>
      </p:sp>
      <p:sp>
        <p:nvSpPr>
          <p:cNvPr id="25" name="Shape 17"/>
          <p:cNvSpPr/>
          <p:nvPr/>
        </p:nvSpPr>
        <p:spPr>
          <a:xfrm>
            <a:off x="6720840" y="3154680"/>
            <a:ext cx="329184" cy="329184"/>
          </a:xfrm>
          <a:prstGeom prst="ellipse">
            <a:avLst/>
          </a:prstGeom>
          <a:solidFill>
            <a:srgbClr val="2E4057"/>
          </a:solidFill>
          <a:ln/>
        </p:spPr>
      </p:sp>
      <p:sp>
        <p:nvSpPr>
          <p:cNvPr id="26" name="Text 18"/>
          <p:cNvSpPr txBox="1"/>
          <p:nvPr/>
        </p:nvSpPr>
        <p:spPr>
          <a:xfrm>
            <a:off x="6720840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7214616" y="3118104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 water</a:t>
            </a:r>
            <a:endParaRPr lang="en-US" sz="1350" dirty="0"/>
          </a:p>
        </p:txBody>
      </p:sp>
      <p:sp>
        <p:nvSpPr>
          <p:cNvPr id="28" name="Shape 20"/>
          <p:cNvSpPr/>
          <p:nvPr/>
        </p:nvSpPr>
        <p:spPr>
          <a:xfrm>
            <a:off x="6720840" y="3630168"/>
            <a:ext cx="329184" cy="329184"/>
          </a:xfrm>
          <a:prstGeom prst="ellipse">
            <a:avLst/>
          </a:prstGeom>
          <a:solidFill>
            <a:srgbClr val="2E4057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6720840" y="3630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7214616" y="3593592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tea leaves</a:t>
            </a:r>
            <a:endParaRPr lang="en-US" sz="1350" dirty="0"/>
          </a:p>
        </p:txBody>
      </p:sp>
      <p:sp>
        <p:nvSpPr>
          <p:cNvPr id="31" name="Shape 23"/>
          <p:cNvSpPr/>
          <p:nvPr/>
        </p:nvSpPr>
        <p:spPr>
          <a:xfrm>
            <a:off x="6720840" y="4105656"/>
            <a:ext cx="329184" cy="329184"/>
          </a:xfrm>
          <a:prstGeom prst="ellipse">
            <a:avLst/>
          </a:prstGeom>
          <a:solidFill>
            <a:srgbClr val="2E4057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6720840" y="4105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7214616" y="406908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sugar</a:t>
            </a:r>
            <a:endParaRPr lang="en-US" sz="1350" dirty="0"/>
          </a:p>
        </p:txBody>
      </p:sp>
      <p:sp>
        <p:nvSpPr>
          <p:cNvPr id="34" name="Shape 26"/>
          <p:cNvSpPr/>
          <p:nvPr/>
        </p:nvSpPr>
        <p:spPr>
          <a:xfrm>
            <a:off x="6720840" y="4581144"/>
            <a:ext cx="329184" cy="329184"/>
          </a:xfrm>
          <a:prstGeom prst="ellipse">
            <a:avLst/>
          </a:prstGeom>
          <a:solidFill>
            <a:srgbClr val="2E4057"/>
          </a:solidFill>
          <a:ln/>
        </p:spPr>
      </p:sp>
      <p:sp>
        <p:nvSpPr>
          <p:cNvPr id="35" name="Text 27"/>
          <p:cNvSpPr txBox="1"/>
          <p:nvPr/>
        </p:nvSpPr>
        <p:spPr>
          <a:xfrm>
            <a:off x="6720840" y="4581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7214616" y="454456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milk</a:t>
            </a:r>
            <a:endParaRPr lang="en-US" sz="1350" dirty="0"/>
          </a:p>
        </p:txBody>
      </p:sp>
      <p:sp>
        <p:nvSpPr>
          <p:cNvPr id="37" name="Shape 29"/>
          <p:cNvSpPr/>
          <p:nvPr/>
        </p:nvSpPr>
        <p:spPr>
          <a:xfrm>
            <a:off x="6720840" y="5056632"/>
            <a:ext cx="329184" cy="329184"/>
          </a:xfrm>
          <a:prstGeom prst="ellipse">
            <a:avLst/>
          </a:prstGeom>
          <a:solidFill>
            <a:srgbClr val="2E4057"/>
          </a:solidFill>
          <a:ln/>
        </p:spPr>
      </p:sp>
      <p:sp>
        <p:nvSpPr>
          <p:cNvPr id="38" name="Text 30"/>
          <p:cNvSpPr txBox="1"/>
          <p:nvPr/>
        </p:nvSpPr>
        <p:spPr>
          <a:xfrm>
            <a:off x="6720840" y="5056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7214616" y="5020056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 for 2 minutes</a:t>
            </a:r>
            <a:endParaRPr lang="en-US" sz="1350" dirty="0"/>
          </a:p>
        </p:txBody>
      </p:sp>
      <p:sp>
        <p:nvSpPr>
          <p:cNvPr id="40" name="Shape 32"/>
          <p:cNvSpPr/>
          <p:nvPr/>
        </p:nvSpPr>
        <p:spPr>
          <a:xfrm>
            <a:off x="6720840" y="5532120"/>
            <a:ext cx="329184" cy="329184"/>
          </a:xfrm>
          <a:prstGeom prst="ellipse">
            <a:avLst/>
          </a:prstGeom>
          <a:solidFill>
            <a:srgbClr val="2E4057"/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6720840" y="5532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Text 34"/>
          <p:cNvSpPr txBox="1"/>
          <p:nvPr/>
        </p:nvSpPr>
        <p:spPr>
          <a:xfrm>
            <a:off x="7214616" y="5495544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into a cup</a:t>
            </a:r>
            <a:endParaRPr lang="en-US" sz="1350" dirty="0"/>
          </a:p>
        </p:txBody>
      </p:sp>
      <p:sp>
        <p:nvSpPr>
          <p:cNvPr id="43" name="Text 35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•  Introduction to Programming &amp; Python</a:t>
            </a:r>
            <a:endParaRPr lang="en-US" sz="900" dirty="0"/>
          </a:p>
        </p:txBody>
      </p:sp>
      <p:sp>
        <p:nvSpPr>
          <p:cNvPr id="44" name="Text 36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321040" y="384048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321040" y="3840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FUNDAMENTALS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System (OS)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01168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OS acts as a bridge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the user and the hardware. Without an OS, a computer cannot run any applications.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971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OF AN OS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3337560"/>
            <a:ext cx="457200" cy="45720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0" name="Image 1" descr="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45643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97280" y="3337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the CPU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02920" y="3886200"/>
            <a:ext cx="457200" cy="45720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3" name="Image 2" descr="icons/puzz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00507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97280" y="3886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memory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502920" y="4434840"/>
            <a:ext cx="457200" cy="45720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6" name="Image 3" descr="icons/key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553712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97280" y="4434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input/output devices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502920" y="4983480"/>
            <a:ext cx="457200" cy="45720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9" name="Image 4" descr="icons/pl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5102352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097280" y="4983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applications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502920" y="5532120"/>
            <a:ext cx="457200" cy="45720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22" name="Image 5" descr="icons/windowIc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5650992"/>
            <a:ext cx="219456" cy="21945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097280" y="5532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user interface</a:t>
            </a:r>
            <a:endParaRPr lang="en-US" sz="1350" dirty="0"/>
          </a:p>
        </p:txBody>
      </p:sp>
      <p:sp>
        <p:nvSpPr>
          <p:cNvPr id="24" name="Shape 16"/>
          <p:cNvSpPr/>
          <p:nvPr/>
        </p:nvSpPr>
        <p:spPr>
          <a:xfrm>
            <a:off x="6400800" y="2011680"/>
            <a:ext cx="5303520" cy="4114800"/>
          </a:xfrm>
          <a:prstGeom prst="roundRect">
            <a:avLst>
              <a:gd name="adj" fmla="val 2667"/>
            </a:avLst>
          </a:prstGeom>
          <a:solidFill>
            <a:srgbClr val="1B1F3B"/>
          </a:solidFill>
          <a:ln/>
        </p:spPr>
      </p:sp>
      <p:sp>
        <p:nvSpPr>
          <p:cNvPr id="25" name="Text 17"/>
          <p:cNvSpPr txBox="1"/>
          <p:nvPr/>
        </p:nvSpPr>
        <p:spPr>
          <a:xfrm>
            <a:off x="676656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OF OPERATING SYSTEMS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6766560" y="2880360"/>
            <a:ext cx="4572000" cy="548640"/>
          </a:xfrm>
          <a:prstGeom prst="roundRect">
            <a:avLst>
              <a:gd name="adj" fmla="val 16667"/>
            </a:avLst>
          </a:prstGeom>
          <a:solidFill>
            <a:srgbClr val="262B52"/>
          </a:solidFill>
          <a:ln/>
        </p:spPr>
      </p:sp>
      <p:sp>
        <p:nvSpPr>
          <p:cNvPr id="27" name="Shape 19"/>
          <p:cNvSpPr/>
          <p:nvPr/>
        </p:nvSpPr>
        <p:spPr>
          <a:xfrm>
            <a:off x="6903720" y="2944368"/>
            <a:ext cx="420624" cy="420624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28" name="Image 6" descr="icons/windowIc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3448" y="3054096"/>
            <a:ext cx="201168" cy="201168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7498080" y="2880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450" dirty="0"/>
          </a:p>
        </p:txBody>
      </p:sp>
      <p:sp>
        <p:nvSpPr>
          <p:cNvPr id="30" name="Shape 21"/>
          <p:cNvSpPr/>
          <p:nvPr/>
        </p:nvSpPr>
        <p:spPr>
          <a:xfrm>
            <a:off x="6766560" y="3520440"/>
            <a:ext cx="4572000" cy="548640"/>
          </a:xfrm>
          <a:prstGeom prst="roundRect">
            <a:avLst>
              <a:gd name="adj" fmla="val 16667"/>
            </a:avLst>
          </a:prstGeom>
          <a:solidFill>
            <a:srgbClr val="262B52"/>
          </a:solidFill>
          <a:ln/>
        </p:spPr>
      </p:sp>
      <p:sp>
        <p:nvSpPr>
          <p:cNvPr id="31" name="Shape 22"/>
          <p:cNvSpPr/>
          <p:nvPr/>
        </p:nvSpPr>
        <p:spPr>
          <a:xfrm>
            <a:off x="6903720" y="3584448"/>
            <a:ext cx="420624" cy="420624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32" name="Image 7" descr="icons/termin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3448" y="3694176"/>
            <a:ext cx="201168" cy="201168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7498080" y="3520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450" dirty="0"/>
          </a:p>
        </p:txBody>
      </p:sp>
      <p:sp>
        <p:nvSpPr>
          <p:cNvPr id="34" name="Shape 24"/>
          <p:cNvSpPr/>
          <p:nvPr/>
        </p:nvSpPr>
        <p:spPr>
          <a:xfrm>
            <a:off x="6766560" y="4160520"/>
            <a:ext cx="4572000" cy="548640"/>
          </a:xfrm>
          <a:prstGeom prst="roundRect">
            <a:avLst>
              <a:gd name="adj" fmla="val 16667"/>
            </a:avLst>
          </a:prstGeom>
          <a:solidFill>
            <a:srgbClr val="262B52"/>
          </a:solidFill>
          <a:ln/>
        </p:spPr>
      </p:sp>
      <p:sp>
        <p:nvSpPr>
          <p:cNvPr id="35" name="Shape 25"/>
          <p:cNvSpPr/>
          <p:nvPr/>
        </p:nvSpPr>
        <p:spPr>
          <a:xfrm>
            <a:off x="6903720" y="4224528"/>
            <a:ext cx="420624" cy="420624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36" name="Image 8" descr="icons/laptopcod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13448" y="4334256"/>
            <a:ext cx="201168" cy="201168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7498080" y="4160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endParaRPr lang="en-US" sz="1450" dirty="0"/>
          </a:p>
        </p:txBody>
      </p:sp>
      <p:sp>
        <p:nvSpPr>
          <p:cNvPr id="38" name="Shape 27"/>
          <p:cNvSpPr/>
          <p:nvPr/>
        </p:nvSpPr>
        <p:spPr>
          <a:xfrm>
            <a:off x="6766560" y="4800600"/>
            <a:ext cx="4572000" cy="548640"/>
          </a:xfrm>
          <a:prstGeom prst="roundRect">
            <a:avLst>
              <a:gd name="adj" fmla="val 16667"/>
            </a:avLst>
          </a:prstGeom>
          <a:solidFill>
            <a:srgbClr val="262B52"/>
          </a:solidFill>
          <a:ln/>
        </p:spPr>
      </p:sp>
      <p:sp>
        <p:nvSpPr>
          <p:cNvPr id="39" name="Shape 28"/>
          <p:cNvSpPr/>
          <p:nvPr/>
        </p:nvSpPr>
        <p:spPr>
          <a:xfrm>
            <a:off x="6903720" y="4864608"/>
            <a:ext cx="420624" cy="420624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40" name="Image 9" descr="icons/robo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13448" y="4974336"/>
            <a:ext cx="201168" cy="201168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7498080" y="48006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450" dirty="0"/>
          </a:p>
        </p:txBody>
      </p:sp>
      <p:sp>
        <p:nvSpPr>
          <p:cNvPr id="42" name="Shape 30"/>
          <p:cNvSpPr/>
          <p:nvPr/>
        </p:nvSpPr>
        <p:spPr>
          <a:xfrm>
            <a:off x="6766560" y="5440680"/>
            <a:ext cx="4572000" cy="548640"/>
          </a:xfrm>
          <a:prstGeom prst="roundRect">
            <a:avLst>
              <a:gd name="adj" fmla="val 16667"/>
            </a:avLst>
          </a:prstGeom>
          <a:solidFill>
            <a:srgbClr val="262B52"/>
          </a:solidFill>
          <a:ln/>
        </p:spPr>
      </p:sp>
      <p:sp>
        <p:nvSpPr>
          <p:cNvPr id="43" name="Shape 31"/>
          <p:cNvSpPr/>
          <p:nvPr/>
        </p:nvSpPr>
        <p:spPr>
          <a:xfrm>
            <a:off x="6903720" y="5504688"/>
            <a:ext cx="420624" cy="420624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44" name="Image 10" descr="icons/mobil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13448" y="5614416"/>
            <a:ext cx="201168" cy="201168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7498080" y="5440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</a:t>
            </a:r>
            <a:endParaRPr lang="en-US" sz="1450" dirty="0"/>
          </a:p>
        </p:txBody>
      </p:sp>
      <p:sp>
        <p:nvSpPr>
          <p:cNvPr id="46" name="Text 33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•  Introduction to Programming &amp; Python</a:t>
            </a:r>
            <a:endParaRPr lang="en-US" sz="900" dirty="0"/>
          </a:p>
        </p:txBody>
      </p:sp>
      <p:sp>
        <p:nvSpPr>
          <p:cNvPr id="47" name="Text 34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321040" y="384048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321040" y="3840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FUNDAMENTALS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 and CLI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0116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interact with computers using an </a:t>
            </a:r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there are two main types: GUI and CLI.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2606040"/>
            <a:ext cx="534924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2880360"/>
            <a:ext cx="621792" cy="621792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0" name="Image 1" descr="icons/laptop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01752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00200" y="289864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 (Graphical UI)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657600"/>
            <a:ext cx="4709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icons, buttons, and windows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for beginners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and keyboard are used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Windows OS, macOS, Ubuntu Desktop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22960" y="5577840"/>
            <a:ext cx="4709160" cy="530352"/>
          </a:xfrm>
          <a:prstGeom prst="roundRect">
            <a:avLst>
              <a:gd name="adj" fmla="val 13793"/>
            </a:avLst>
          </a:prstGeom>
          <a:solidFill>
            <a:srgbClr val="F5F6FB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960120" y="5577840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example: Clicking folders and opening files on Windows Desktop.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309360" y="2606040"/>
            <a:ext cx="534924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629400" y="2880360"/>
            <a:ext cx="621792" cy="621792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17" name="Image 2" descr="icons/termi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301752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406640" y="289864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 (Command Line)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6629400" y="3657600"/>
            <a:ext cx="4709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type commands using the keyboard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for advanced users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programmers &amp; system admins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Linux Terminal, Command Prompt, PowerShell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•  Introduction to Programming &amp; Python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052560" y="38404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052560" y="3840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 Languages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0116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programming language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set of rules and vocabulary used to write instructions that a computer can understand and carry out.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2920" y="2880360"/>
            <a:ext cx="53492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315468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31546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65760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to machine (binary) code. Hard for humans to read, but very fast and hardware-specific.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07492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Machine Language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E4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Assembly Language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309360" y="2880360"/>
            <a:ext cx="53492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629400" y="315468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629400" y="31546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629400" y="365760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to human language. Easy to read, write, and learn — used for most modern software.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66294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6629400" y="507492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  •   Java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C++   •   JavaScript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•  Introduction to Programming &amp; Python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052560" y="38404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052560" y="3840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Computers Execute Programs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0116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cannot understand human language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they only understand machine language (binary). So every program is converted before it runs.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051560" y="2880360"/>
            <a:ext cx="2331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851660" y="3154680"/>
            <a:ext cx="731520" cy="73152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0" name="Image 1" descr="icons/ed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828" y="335584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51560" y="255117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40233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Code</a:t>
            </a:r>
            <a:endParaRPr lang="en-US" sz="1300" dirty="0"/>
          </a:p>
        </p:txBody>
      </p:sp>
      <p:pic>
        <p:nvPicPr>
          <p:cNvPr id="13" name="Image 2" descr="icons/arrow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144" y="3803904"/>
            <a:ext cx="164592" cy="25603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657600" y="2880360"/>
            <a:ext cx="2331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57700" y="3154680"/>
            <a:ext cx="731520" cy="731520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16" name="Image 3" descr="icons/exch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8868" y="335584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657600" y="255117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3749040" y="40233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Converted to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Language</a:t>
            </a:r>
            <a:endParaRPr lang="en-US" sz="1300" dirty="0"/>
          </a:p>
        </p:txBody>
      </p:sp>
      <p:pic>
        <p:nvPicPr>
          <p:cNvPr id="19" name="Image 4" descr="icons/arrow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4184" y="3803904"/>
            <a:ext cx="164592" cy="25603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263640" y="2880360"/>
            <a:ext cx="2331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7063740" y="3154680"/>
            <a:ext cx="731520" cy="73152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22" name="Image 5" descr="icons/cog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4908" y="3355848"/>
            <a:ext cx="329184" cy="329184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263640" y="255117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6355080" y="40233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Executes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300" dirty="0"/>
          </a:p>
        </p:txBody>
      </p:sp>
      <p:pic>
        <p:nvPicPr>
          <p:cNvPr id="25" name="Image 6" descr="icons/arrowRig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0224" y="3803904"/>
            <a:ext cx="164592" cy="256032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8869680" y="2880360"/>
            <a:ext cx="2331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27" name="Shape 18"/>
          <p:cNvSpPr/>
          <p:nvPr/>
        </p:nvSpPr>
        <p:spPr>
          <a:xfrm>
            <a:off x="9669780" y="3154680"/>
            <a:ext cx="731520" cy="731520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28" name="Image 7" descr="icon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0948" y="3355848"/>
            <a:ext cx="329184" cy="329184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8869680" y="255117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0"/>
          <p:cNvSpPr txBox="1"/>
          <p:nvPr/>
        </p:nvSpPr>
        <p:spPr>
          <a:xfrm>
            <a:off x="8961120" y="40233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</a:t>
            </a:r>
            <a:endParaRPr lang="en-US" sz="1300" dirty="0"/>
          </a:p>
        </p:txBody>
      </p:sp>
      <p:sp>
        <p:nvSpPr>
          <p:cNvPr id="31" name="Shape 21"/>
          <p:cNvSpPr/>
          <p:nvPr/>
        </p:nvSpPr>
        <p:spPr>
          <a:xfrm>
            <a:off x="502920" y="5349240"/>
            <a:ext cx="11201400" cy="9144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</p:spPr>
      </p:sp>
      <p:sp>
        <p:nvSpPr>
          <p:cNvPr id="32" name="Text 22"/>
          <p:cNvSpPr txBox="1"/>
          <p:nvPr/>
        </p:nvSpPr>
        <p:spPr>
          <a:xfrm>
            <a:off x="777240" y="5349240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Translators: </a:t>
            </a:r>
            <a:pPr indent="0" marL="0">
              <a:buNone/>
            </a:pPr>
            <a:r>
              <a:rPr lang="en-US" sz="1400" dirty="0">
                <a:solidFill>
                  <a:srgbClr val="E8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 &amp;  Interpreter   —   Python uses an </a:t>
            </a:r>
            <a:pPr indent="0" marL="0">
              <a:buNone/>
            </a:pPr>
            <a:r>
              <a:rPr lang="en-US" sz="14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</a:t>
            </a:r>
            <a:pPr indent="0" marL="0">
              <a:buNone/>
            </a:pPr>
            <a:r>
              <a:rPr lang="en-US" sz="1400" dirty="0">
                <a:solidFill>
                  <a:srgbClr val="E8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33" name="Text 23"/>
          <p:cNvSpPr txBox="1"/>
          <p:nvPr/>
        </p:nvSpPr>
        <p:spPr>
          <a:xfrm>
            <a:off x="777240" y="5779008"/>
            <a:ext cx="1065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analogy: You speak English  →  a translator converts it  →  the other person understands.</a:t>
            </a:r>
            <a:endParaRPr lang="en-US" sz="1200" dirty="0"/>
          </a:p>
        </p:txBody>
      </p:sp>
      <p:sp>
        <p:nvSpPr>
          <p:cNvPr id="34" name="Text 24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•  Introduction to Programming &amp; Python</a:t>
            </a:r>
            <a:endParaRPr lang="en-US" sz="900" dirty="0"/>
          </a:p>
        </p:txBody>
      </p:sp>
      <p:sp>
        <p:nvSpPr>
          <p:cNvPr id="35" name="Text 25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052560" y="38404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052560" y="3840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Compiler vs. Interpreter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0116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translate human-readable code into instructions a computer can run — but they work differently.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2697480"/>
            <a:ext cx="534924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2971800"/>
            <a:ext cx="658368" cy="658368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0" name="Image 1" descr="icons/exch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317296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45920" y="299923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Compiler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794760"/>
            <a:ext cx="4709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the entire program at once, before running it.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separate machine-code file.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execution; errors shown all together.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C, C++.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309360" y="2697480"/>
            <a:ext cx="534924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629400" y="2971800"/>
            <a:ext cx="658368" cy="658368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15" name="Image 2" descr="icons/termi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568" y="3172968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452360" y="299923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Interpreter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6629400" y="3794760"/>
            <a:ext cx="4709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and runs code line-by-line.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file is created.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debug; stops at the first error.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Python.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•  Introduction to Programming &amp; Python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052560" y="38404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052560" y="3840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Interpreter?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01168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interpreter 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program that executes code line by line. It reads one line, converts it to machine instructions, executes it, then moves to the next.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02920" y="3520440"/>
            <a:ext cx="5577840" cy="960120"/>
          </a:xfrm>
          <a:prstGeom prst="roundRect">
            <a:avLst>
              <a:gd name="adj" fmla="val 9524"/>
            </a:avLst>
          </a:prstGeom>
          <a:solidFill>
            <a:srgbClr val="1B1F3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352044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i="1" dirty="0">
                <a:solidFill>
                  <a:srgbClr val="F2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“An interpreter translates and executes code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b="1" i="1" dirty="0">
                <a:solidFill>
                  <a:srgbClr val="F2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line at a time.”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470916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like Google Translate converts one sentence at a time, an interpreter executes program code one line at a time.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0" y="2011680"/>
            <a:ext cx="530352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720840" y="2286000"/>
            <a:ext cx="640080" cy="640080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13" name="Image 1" descr="icons/trans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144" y="2432304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98080" y="23317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Analogy: Google Translate</a:t>
            </a:r>
            <a:endParaRPr lang="en-US" sz="1650" dirty="0"/>
          </a:p>
        </p:txBody>
      </p:sp>
      <p:sp>
        <p:nvSpPr>
          <p:cNvPr id="15" name="Text 11"/>
          <p:cNvSpPr txBox="1"/>
          <p:nvPr/>
        </p:nvSpPr>
        <p:spPr>
          <a:xfrm>
            <a:off x="6720840" y="2880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A speaks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Person B understands only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 they use Google Translate.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720840" y="3520440"/>
            <a:ext cx="329184" cy="329184"/>
          </a:xfrm>
          <a:prstGeom prst="ellipse">
            <a:avLst/>
          </a:prstGeom>
          <a:solidFill>
            <a:srgbClr val="2E4057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720840" y="3520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7214616" y="3483864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A speaks one sentence in English.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720840" y="4142232"/>
            <a:ext cx="329184" cy="329184"/>
          </a:xfrm>
          <a:prstGeom prst="ellipse">
            <a:avLst/>
          </a:prstGeom>
          <a:solidFill>
            <a:srgbClr val="2E405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720840" y="4142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7214616" y="4105656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Translate immediately converts that sentence to Hindi.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720840" y="4764024"/>
            <a:ext cx="329184" cy="329184"/>
          </a:xfrm>
          <a:prstGeom prst="ellipse">
            <a:avLst/>
          </a:prstGeom>
          <a:solidFill>
            <a:srgbClr val="2E4057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720840" y="4764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7214616" y="4727448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B understands the translated sentence.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720840" y="5385816"/>
            <a:ext cx="329184" cy="329184"/>
          </a:xfrm>
          <a:prstGeom prst="ellipse">
            <a:avLst/>
          </a:prstGeom>
          <a:solidFill>
            <a:srgbClr val="2E4057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6720840" y="5385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7214616" y="5349240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next sentence is translated — one at a time.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•  Introduction to Programming &amp; Python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591056" cy="33832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</p:spPr>
      </p:sp>
      <p:pic>
        <p:nvPicPr>
          <p:cNvPr id="3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365760"/>
            <a:ext cx="1371600" cy="19202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966960" y="-914400"/>
            <a:ext cx="3291840" cy="3291840"/>
          </a:xfrm>
          <a:prstGeom prst="ellipse">
            <a:avLst/>
          </a:prstGeom>
          <a:solidFill>
            <a:srgbClr val="2E4057">
              <a:alpha val="4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9052560" y="38404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052560" y="3840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LANGUAGE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Python?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484632" y="187452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" y="214884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8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high-level, general-purpose, interpreted programming language, created by </a:t>
            </a:r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Guido van Rossum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8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first released in </a:t>
            </a:r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1991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8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337560"/>
            <a:ext cx="6492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8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almost like plain English.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8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 beginner-friendly languages to start with.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8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 runs on Windows, macOS, and Linux.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360920" y="2148840"/>
            <a:ext cx="4389120" cy="3246120"/>
          </a:xfrm>
          <a:prstGeom prst="roundRect">
            <a:avLst>
              <a:gd name="adj" fmla="val 2817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562088" y="231343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13" name="Shape 10"/>
          <p:cNvSpPr/>
          <p:nvPr/>
        </p:nvSpPr>
        <p:spPr>
          <a:xfrm>
            <a:off x="7799832" y="231343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4" name="Shape 11"/>
          <p:cNvSpPr/>
          <p:nvPr/>
        </p:nvSpPr>
        <p:spPr>
          <a:xfrm>
            <a:off x="8037576" y="231343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635240" y="2606040"/>
            <a:ext cx="3840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my_first_look.py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"CSE Student"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print("Hello, " + name)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print("Welcome to Python!")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Hello, CSE Student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Welcome to Python!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•  Introduction to Programming &amp; Python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052560" y="38404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052560" y="3840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LANGUAGE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&amp; Applications of Python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011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423160"/>
            <a:ext cx="457200" cy="45720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9" name="Image 1" descr="icons/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54203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97280" y="2423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readable syntax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2920" y="3026664"/>
            <a:ext cx="457200" cy="45720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2" name="Image 2" descr="icons/termi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145536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302666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Interpreted language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02920" y="3630168"/>
            <a:ext cx="457200" cy="45720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5" name="Image 3" descr="icons/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749040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97280" y="36301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typed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502920" y="4233672"/>
            <a:ext cx="457200" cy="45720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8" name="Image 4" descr="icons/glob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352544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97280" y="42336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open source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502920" y="4837176"/>
            <a:ext cx="457200" cy="45720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21" name="Image 5" descr="icons/boo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956048"/>
            <a:ext cx="219456" cy="21945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097280" y="483717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library support</a:t>
            </a:r>
            <a:endParaRPr lang="en-US" sz="1400" dirty="0"/>
          </a:p>
        </p:txBody>
      </p:sp>
      <p:sp>
        <p:nvSpPr>
          <p:cNvPr id="23" name="Text 15"/>
          <p:cNvSpPr txBox="1"/>
          <p:nvPr/>
        </p:nvSpPr>
        <p:spPr>
          <a:xfrm>
            <a:off x="6309360" y="2011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6309360" y="2423160"/>
            <a:ext cx="457200" cy="457200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25" name="Image 6" descr="icons/glob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232" y="2542032"/>
            <a:ext cx="219456" cy="219456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6903720" y="2423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</a:t>
            </a:r>
            <a:endParaRPr lang="en-US" sz="1400" dirty="0"/>
          </a:p>
        </p:txBody>
      </p:sp>
      <p:sp>
        <p:nvSpPr>
          <p:cNvPr id="27" name="Shape 18"/>
          <p:cNvSpPr/>
          <p:nvPr/>
        </p:nvSpPr>
        <p:spPr>
          <a:xfrm>
            <a:off x="6309360" y="3026664"/>
            <a:ext cx="457200" cy="457200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28" name="Image 7" descr="icons/char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8232" y="3145536"/>
            <a:ext cx="219456" cy="219456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6903720" y="302666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analytics</a:t>
            </a:r>
            <a:endParaRPr lang="en-US" sz="1400" dirty="0"/>
          </a:p>
        </p:txBody>
      </p:sp>
      <p:sp>
        <p:nvSpPr>
          <p:cNvPr id="30" name="Shape 20"/>
          <p:cNvSpPr/>
          <p:nvPr/>
        </p:nvSpPr>
        <p:spPr>
          <a:xfrm>
            <a:off x="6309360" y="3630168"/>
            <a:ext cx="457200" cy="457200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31" name="Image 8" descr="icons/robo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8232" y="3749040"/>
            <a:ext cx="219456" cy="219456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6903720" y="36301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&amp; ML</a:t>
            </a:r>
            <a:endParaRPr lang="en-US" sz="1400" dirty="0"/>
          </a:p>
        </p:txBody>
      </p:sp>
      <p:sp>
        <p:nvSpPr>
          <p:cNvPr id="33" name="Shape 22"/>
          <p:cNvSpPr/>
          <p:nvPr/>
        </p:nvSpPr>
        <p:spPr>
          <a:xfrm>
            <a:off x="6309360" y="4233672"/>
            <a:ext cx="457200" cy="457200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34" name="Image 9" descr="icons/cog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8232" y="4352544"/>
            <a:ext cx="219456" cy="219456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6903720" y="42336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scripting</a:t>
            </a:r>
            <a:endParaRPr lang="en-US" sz="1400" dirty="0"/>
          </a:p>
        </p:txBody>
      </p:sp>
      <p:sp>
        <p:nvSpPr>
          <p:cNvPr id="36" name="Shape 24"/>
          <p:cNvSpPr/>
          <p:nvPr/>
        </p:nvSpPr>
        <p:spPr>
          <a:xfrm>
            <a:off x="6309360" y="4837176"/>
            <a:ext cx="457200" cy="457200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37" name="Image 10" descr="icons/gamepa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28232" y="4956048"/>
            <a:ext cx="219456" cy="219456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6903720" y="483717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development</a:t>
            </a:r>
            <a:endParaRPr lang="en-US" sz="1400" dirty="0"/>
          </a:p>
        </p:txBody>
      </p:sp>
      <p:sp>
        <p:nvSpPr>
          <p:cNvPr id="39" name="Text 26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•  Introduction to Programming &amp; Python</a:t>
            </a:r>
            <a:endParaRPr lang="en-US" sz="900" dirty="0"/>
          </a:p>
        </p:txBody>
      </p:sp>
      <p:sp>
        <p:nvSpPr>
          <p:cNvPr id="40" name="Text 27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052560" y="38404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052560" y="3840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SET UP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Installing Python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2148840"/>
            <a:ext cx="2624328" cy="356616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559052" y="1892808"/>
            <a:ext cx="512064" cy="51206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559052" y="1892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449324" y="2514600"/>
            <a:ext cx="731520" cy="73152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1" name="Image 1" descr="icons/downl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492" y="27157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85800" y="3474720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 python.org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704088" y="4023360"/>
            <a:ext cx="22219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python.org/downloads in your browser.</a:t>
            </a:r>
            <a:endParaRPr lang="en-US" sz="1200" dirty="0"/>
          </a:p>
        </p:txBody>
      </p:sp>
      <p:pic>
        <p:nvPicPr>
          <p:cNvPr id="14" name="Image 2" descr="icons/arrow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392" y="3803904"/>
            <a:ext cx="164592" cy="25603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310128" y="2148840"/>
            <a:ext cx="2624328" cy="356616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366260" y="1892808"/>
            <a:ext cx="512064" cy="51206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4366260" y="1892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4256532" y="2514600"/>
            <a:ext cx="731520" cy="731520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19" name="Image 3" descr="icons/laptop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700" y="2715768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3493008" y="3474720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the installer</a:t>
            </a:r>
            <a:endParaRPr lang="en-US" sz="1450" dirty="0"/>
          </a:p>
        </p:txBody>
      </p:sp>
      <p:sp>
        <p:nvSpPr>
          <p:cNvPr id="21" name="Text 15"/>
          <p:cNvSpPr txBox="1"/>
          <p:nvPr/>
        </p:nvSpPr>
        <p:spPr>
          <a:xfrm>
            <a:off x="3511296" y="4023360"/>
            <a:ext cx="22219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latest version for your operating system.</a:t>
            </a:r>
            <a:endParaRPr lang="en-US" sz="1200" dirty="0"/>
          </a:p>
        </p:txBody>
      </p:sp>
      <p:pic>
        <p:nvPicPr>
          <p:cNvPr id="22" name="Image 4" descr="icons/arrow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3803904"/>
            <a:ext cx="164592" cy="256032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6117336" y="2148840"/>
            <a:ext cx="2624328" cy="356616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7173468" y="1892808"/>
            <a:ext cx="512064" cy="51206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7173468" y="1892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7063740" y="2514600"/>
            <a:ext cx="731520" cy="73152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27" name="Image 5" descr="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4908" y="2715768"/>
            <a:ext cx="329184" cy="32918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300216" y="3474720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&amp; check the PATH box</a:t>
            </a:r>
            <a:endParaRPr lang="en-US" sz="1450" dirty="0"/>
          </a:p>
        </p:txBody>
      </p:sp>
      <p:sp>
        <p:nvSpPr>
          <p:cNvPr id="29" name="Text 21"/>
          <p:cNvSpPr txBox="1"/>
          <p:nvPr/>
        </p:nvSpPr>
        <p:spPr>
          <a:xfrm>
            <a:off x="6318504" y="4023360"/>
            <a:ext cx="22219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setup, tick “Add Python to PATH” — very important!</a:t>
            </a:r>
            <a:endParaRPr lang="en-US" sz="1200" dirty="0"/>
          </a:p>
        </p:txBody>
      </p:sp>
      <p:pic>
        <p:nvPicPr>
          <p:cNvPr id="30" name="Image 6" descr="icons/arrowRig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0808" y="3803904"/>
            <a:ext cx="164592" cy="256032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8924544" y="2148840"/>
            <a:ext cx="2624328" cy="356616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9980676" y="1892808"/>
            <a:ext cx="512064" cy="51206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33" name="Text 24"/>
          <p:cNvSpPr txBox="1"/>
          <p:nvPr/>
        </p:nvSpPr>
        <p:spPr>
          <a:xfrm>
            <a:off x="9980676" y="1892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Shape 25"/>
          <p:cNvSpPr/>
          <p:nvPr/>
        </p:nvSpPr>
        <p:spPr>
          <a:xfrm>
            <a:off x="9870948" y="2514600"/>
            <a:ext cx="731520" cy="731520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35" name="Image 7" descr="icons/termin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72116" y="2715768"/>
            <a:ext cx="329184" cy="329184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9107424" y="3474720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the install</a:t>
            </a:r>
            <a:endParaRPr lang="en-US" sz="1450" dirty="0"/>
          </a:p>
        </p:txBody>
      </p:sp>
      <p:sp>
        <p:nvSpPr>
          <p:cNvPr id="37" name="Text 27"/>
          <p:cNvSpPr txBox="1"/>
          <p:nvPr/>
        </p:nvSpPr>
        <p:spPr>
          <a:xfrm>
            <a:off x="9125712" y="4023360"/>
            <a:ext cx="22219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terminal/command prompt and type: python --version</a:t>
            </a:r>
            <a:endParaRPr lang="en-US" sz="1200" dirty="0"/>
          </a:p>
        </p:txBody>
      </p:sp>
      <p:sp>
        <p:nvSpPr>
          <p:cNvPr id="38" name="Text 28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•  Introduction to Programming &amp; Python</a:t>
            </a:r>
            <a:endParaRPr lang="en-US" sz="900" dirty="0"/>
          </a:p>
        </p:txBody>
      </p:sp>
      <p:sp>
        <p:nvSpPr>
          <p:cNvPr id="39" name="Text 29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052560" y="38404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052560" y="3840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SET UP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IDEs (Code Editors)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0116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IDE (Integrated Development Environment) is where you write, run, and debug your code.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2697480"/>
            <a:ext cx="352044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851660" y="2971800"/>
            <a:ext cx="822960" cy="82296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0" name="Image 1" descr="icons/ed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828" y="317296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85800" y="39319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IDLE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438912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built-in with Python. Simple and minimal — nothing extra to install.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1005840" y="5623560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F5F6FB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005840" y="56235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absolute beginners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343400" y="2697480"/>
            <a:ext cx="352044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692140" y="2971800"/>
            <a:ext cx="822960" cy="822960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17" name="Image 2" descr="icons/laptop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3308" y="3172968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526280" y="39319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4617720" y="438912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free, powerful, and highly customizable code editor with extensions.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4846320" y="5623560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F5F6F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846320" y="56235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everyday coding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183880" y="2697480"/>
            <a:ext cx="352044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532620" y="2971800"/>
            <a:ext cx="822960" cy="82296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24" name="Image 3" descr="icons/bo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3788" y="3172968"/>
            <a:ext cx="420624" cy="42062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366760" y="39319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Jupyter Notebook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8458200" y="438912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code in cells with instant output — great for experimenting.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8686800" y="5623560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F5F6FB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8686800" y="56235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data &amp; learning</a:t>
            </a:r>
            <a:endParaRPr lang="en-US" sz="1050" dirty="0"/>
          </a:p>
        </p:txBody>
      </p:sp>
      <p:sp>
        <p:nvSpPr>
          <p:cNvPr id="29" name="Text 23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•  Introduction to Programming &amp; Python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052560" y="38404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052560" y="3840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CODE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Your First Python Program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148840"/>
            <a:ext cx="5577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IDE (e.g. IDLE or VS Code).</a:t>
            </a:r>
            <a:endParaRPr lang="en-US" sz="15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file and save it as hello.py</a:t>
            </a:r>
            <a:endParaRPr lang="en-US" sz="15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single line of code shown on the right.</a:t>
            </a:r>
            <a:endParaRPr lang="en-US" sz="15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file (Run → Run Module, or press F5).</a:t>
            </a:r>
            <a:endParaRPr lang="en-US" sz="15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output appear in the console below.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400800" y="2148840"/>
            <a:ext cx="5257800" cy="2743200"/>
          </a:xfrm>
          <a:prstGeom prst="roundRect">
            <a:avLst>
              <a:gd name="adj" fmla="val 3333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01968" y="231343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10" name="Shape 7"/>
          <p:cNvSpPr/>
          <p:nvPr/>
        </p:nvSpPr>
        <p:spPr>
          <a:xfrm>
            <a:off x="6839712" y="231343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1" name="Shape 8"/>
          <p:cNvSpPr/>
          <p:nvPr/>
        </p:nvSpPr>
        <p:spPr>
          <a:xfrm>
            <a:off x="7077456" y="231343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675120" y="2606040"/>
            <a:ext cx="4709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A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hello.py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print("Hello, World!")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0" y="5074920"/>
            <a:ext cx="5257800" cy="1005840"/>
          </a:xfrm>
          <a:prstGeom prst="roundRect">
            <a:avLst>
              <a:gd name="adj" fmla="val 9091"/>
            </a:avLst>
          </a:prstGeom>
          <a:solidFill>
            <a:srgbClr val="E9FBF0"/>
          </a:solidFill>
          <a:ln w="12700">
            <a:solidFill>
              <a:srgbClr val="4FD6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629400" y="519379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4F"/>
                </a:solidFill>
              </a:rPr>
              <a:t>OUTPUT
</a:t>
            </a:r>
            <a:endParaRPr lang="en-US" sz="105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World!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•  Introduction to Programming &amp; Python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052560" y="38404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052560" y="3840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CODE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print() Function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01168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print() </a:t>
            </a:r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built-in function used to display output — text, numbers, or results — on the screen.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971800"/>
            <a:ext cx="5577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typed inside quotes is called a string.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print numbers, math results, or several items at once.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print() statement moves to a new line by default.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0" y="201168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01968" y="217627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11" name="Shape 8"/>
          <p:cNvSpPr/>
          <p:nvPr/>
        </p:nvSpPr>
        <p:spPr>
          <a:xfrm>
            <a:off x="6839712" y="21762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2" name="Shape 9"/>
          <p:cNvSpPr/>
          <p:nvPr/>
        </p:nvSpPr>
        <p:spPr>
          <a:xfrm>
            <a:off x="7077456" y="217627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75120" y="2468880"/>
            <a:ext cx="4709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Printing text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print("Hello, World!")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Printing numbers / math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print(5 + 3)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Printing multiple items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print("Age:", 19)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World!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Age: 19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•  Introduction to Programming &amp; Python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052560" y="38404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052560" y="3840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CODE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Comments in Python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01168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notes in your code that Python completely ignores when running. They exist purely to help humans understand the code.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32461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COMMENTS?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3611880"/>
            <a:ext cx="557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tricky code does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notes for teammates (or future you)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Temporarily “switch off” a line while testing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0" y="201168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01968" y="217627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12" name="Shape 9"/>
          <p:cNvSpPr/>
          <p:nvPr/>
        </p:nvSpPr>
        <p:spPr>
          <a:xfrm>
            <a:off x="6839712" y="21762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3" name="Shape 10"/>
          <p:cNvSpPr/>
          <p:nvPr/>
        </p:nvSpPr>
        <p:spPr>
          <a:xfrm>
            <a:off x="7077456" y="217627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675120" y="2468880"/>
            <a:ext cx="4709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This is a single-line comment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print("Comments are ignored")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   # comment after code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is a multi-line comment.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Great for longer explanations.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print("Code continues here")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•  Introduction to Programming &amp; Python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052560" y="38404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052560" y="3840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CODE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Syntax &amp; Indentation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9659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many languages, Python uses indentation (spacing) — not curly braces { } or semicolons — to define blocks of code.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02920" y="2651760"/>
            <a:ext cx="54864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880360"/>
            <a:ext cx="502920" cy="502920"/>
          </a:xfrm>
          <a:prstGeom prst="ellipse">
            <a:avLst/>
          </a:prstGeom>
          <a:solidFill>
            <a:srgbClr val="4FD67A"/>
          </a:solidFill>
          <a:ln/>
        </p:spPr>
      </p:sp>
      <p:pic>
        <p:nvPicPr>
          <p:cNvPr id="10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99923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29077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 Indentation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777240" y="3520440"/>
            <a:ext cx="4937760" cy="2560320"/>
          </a:xfrm>
          <a:prstGeom prst="roundRect">
            <a:avLst>
              <a:gd name="adj" fmla="val 3571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78408" y="368503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14" name="Shape 10"/>
          <p:cNvSpPr/>
          <p:nvPr/>
        </p:nvSpPr>
        <p:spPr>
          <a:xfrm>
            <a:off x="1216152" y="368503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5" name="Shape 11"/>
          <p:cNvSpPr/>
          <p:nvPr/>
        </p:nvSpPr>
        <p:spPr>
          <a:xfrm>
            <a:off x="1453896" y="368503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1051560" y="3977640"/>
            <a:ext cx="4389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age &gt;= 18: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print("You are an adult")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print("You can vote")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 spaces = one indent level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263640" y="2651760"/>
            <a:ext cx="54864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537960" y="2880360"/>
            <a:ext cx="502920" cy="502920"/>
          </a:xfrm>
          <a:prstGeom prst="ellipse">
            <a:avLst/>
          </a:prstGeom>
          <a:solidFill>
            <a:srgbClr val="F2555A"/>
          </a:solidFill>
          <a:ln/>
        </p:spPr>
      </p:sp>
      <p:pic>
        <p:nvPicPr>
          <p:cNvPr id="19" name="Image 2" descr="icons/bu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2999232"/>
            <a:ext cx="265176" cy="26517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178040" y="29077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Incorrect Indentation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537960" y="3520440"/>
            <a:ext cx="4937760" cy="2560320"/>
          </a:xfrm>
          <a:prstGeom prst="roundRect">
            <a:avLst>
              <a:gd name="adj" fmla="val 3571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739128" y="368503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23" name="Shape 18"/>
          <p:cNvSpPr/>
          <p:nvPr/>
        </p:nvSpPr>
        <p:spPr>
          <a:xfrm>
            <a:off x="6976872" y="368503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24" name="Shape 19"/>
          <p:cNvSpPr/>
          <p:nvPr/>
        </p:nvSpPr>
        <p:spPr>
          <a:xfrm>
            <a:off x="7214616" y="368503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812280" y="3977640"/>
            <a:ext cx="4389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age &gt;= 18: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A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print("You are an adult")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5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IndentationError: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25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expected an indented block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•  Introduction to Programming &amp; Python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052560" y="38404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052560" y="3840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CODE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Errors &amp; Debugging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210312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331720"/>
            <a:ext cx="548640" cy="548640"/>
          </a:xfrm>
          <a:prstGeom prst="ellipse">
            <a:avLst/>
          </a:prstGeom>
          <a:solidFill>
            <a:srgbClr val="F2555A"/>
          </a:solidFill>
          <a:ln/>
        </p:spPr>
      </p:sp>
      <p:pic>
        <p:nvPicPr>
          <p:cNvPr id="9" name="Image 1" descr="icons/bu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45973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3591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 Error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9718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grammar — code that doesn't follow Python's rules.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3794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5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print("Hi"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343400" y="210312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99432" y="2331720"/>
            <a:ext cx="548640" cy="548640"/>
          </a:xfrm>
          <a:prstGeom prst="ellipse">
            <a:avLst/>
          </a:prstGeom>
          <a:solidFill>
            <a:srgbClr val="D98A1F"/>
          </a:solidFill>
          <a:ln/>
        </p:spPr>
      </p:sp>
      <p:pic>
        <p:nvPicPr>
          <p:cNvPr id="15" name="Image 2" descr="icons/bu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245973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57800" y="23591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Error</a:t>
            </a:r>
            <a:endParaRPr lang="en-US" sz="1450" dirty="0"/>
          </a:p>
        </p:txBody>
      </p:sp>
      <p:sp>
        <p:nvSpPr>
          <p:cNvPr id="17" name="Text 12"/>
          <p:cNvSpPr txBox="1"/>
          <p:nvPr/>
        </p:nvSpPr>
        <p:spPr>
          <a:xfrm>
            <a:off x="4617720" y="29718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valid, but crashes while running.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4617720" y="3794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0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183880" y="210312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39912" y="2331720"/>
            <a:ext cx="548640" cy="54864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21" name="Image 3" descr="icons/bu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7928" y="245973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098280" y="23591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Error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8458200" y="29718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runs fine, but gives the wrong result.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8458200" y="3794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4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 = l + w  # should be l * w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02920" y="4663440"/>
            <a:ext cx="11201400" cy="1600200"/>
          </a:xfrm>
          <a:prstGeom prst="roundRect">
            <a:avLst>
              <a:gd name="adj" fmla="val 6857"/>
            </a:avLst>
          </a:prstGeom>
          <a:solidFill>
            <a:srgbClr val="1B1F3B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777240" y="48280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DEBUG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777240" y="5193792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Read the error message &amp; line number carefully</a:t>
            </a:r>
            <a:endParaRPr lang="en-US" sz="1150" dirty="0"/>
          </a:p>
        </p:txBody>
      </p:sp>
      <p:sp>
        <p:nvSpPr>
          <p:cNvPr id="28" name="Text 22"/>
          <p:cNvSpPr txBox="1"/>
          <p:nvPr/>
        </p:nvSpPr>
        <p:spPr>
          <a:xfrm>
            <a:off x="3154680" y="5193792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Check indentation, quotes &amp; brackets</a:t>
            </a:r>
            <a:endParaRPr lang="en-US" sz="1150" dirty="0"/>
          </a:p>
        </p:txBody>
      </p:sp>
      <p:sp>
        <p:nvSpPr>
          <p:cNvPr id="29" name="Text 23"/>
          <p:cNvSpPr txBox="1"/>
          <p:nvPr/>
        </p:nvSpPr>
        <p:spPr>
          <a:xfrm>
            <a:off x="5989320" y="5193792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Use print() to trace variable values</a:t>
            </a:r>
            <a:endParaRPr lang="en-US" sz="1150" dirty="0"/>
          </a:p>
        </p:txBody>
      </p:sp>
      <p:sp>
        <p:nvSpPr>
          <p:cNvPr id="30" name="Text 24"/>
          <p:cNvSpPr txBox="1"/>
          <p:nvPr/>
        </p:nvSpPr>
        <p:spPr>
          <a:xfrm>
            <a:off x="9006840" y="5193792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Fix one error at a time, then re-run</a:t>
            </a:r>
            <a:endParaRPr lang="en-US" sz="1150" dirty="0"/>
          </a:p>
        </p:txBody>
      </p:sp>
      <p:sp>
        <p:nvSpPr>
          <p:cNvPr id="31" name="Text 25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•  Introduction to Programming &amp; Python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591056" cy="33832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</p:spPr>
      </p:sp>
      <p:pic>
        <p:nvPicPr>
          <p:cNvPr id="3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365760"/>
            <a:ext cx="1371600" cy="19202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1280160" y="3657600"/>
            <a:ext cx="3657600" cy="3657600"/>
          </a:xfrm>
          <a:prstGeom prst="ellipse">
            <a:avLst/>
          </a:prstGeom>
          <a:solidFill>
            <a:srgbClr val="2E4057">
              <a:alpha val="4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0332720" y="-1280160"/>
            <a:ext cx="3108960" cy="3108960"/>
          </a:xfrm>
          <a:prstGeom prst="ellipse">
            <a:avLst/>
          </a:prstGeom>
          <a:solidFill>
            <a:srgbClr val="F2B84B">
              <a:alpha val="18000"/>
            </a:srgbClr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22860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Ready to Start Coding!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310896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know how computers, operating systems, and programs work — and how to write, run, and debug simple Python code.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70248" y="4206240"/>
            <a:ext cx="3657600" cy="502920"/>
          </a:xfrm>
          <a:prstGeom prst="roundRect">
            <a:avLst>
              <a:gd name="adj" fmla="val 49091"/>
            </a:avLst>
          </a:prstGeom>
          <a:solidFill>
            <a:srgbClr val="F2B84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270248" y="4206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MODULE 2 — VARIABLES &amp; DATA TYPES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HCLTech Career Shaper™  •  Supercharging Progress™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2026-09-23T01:21:58Z</dcterms:created>
  <dcterms:modified xsi:type="dcterms:W3CDTF">2026-09-23T01:21:58Z</dcterms:modified>
</cp:coreProperties>
</file>