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3.png"/><Relationship Id="rId5" Type="http://schemas.openxmlformats.org/officeDocument/2006/relationships/image" Target="../media/image-12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E405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F2B84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92608"/>
            <a:ext cx="1591056" cy="33832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</p:spPr>
      </p:sp>
      <p:pic>
        <p:nvPicPr>
          <p:cNvPr id="5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5760"/>
            <a:ext cx="1371600" cy="1920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331720"/>
            <a:ext cx="2331720" cy="402336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2920" y="23317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83464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Making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521208" y="3794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Learn how programs make decisions and choose what to do next.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21208" y="4434840"/>
            <a:ext cx="1005840" cy="0"/>
          </a:xfrm>
          <a:prstGeom prst="line">
            <a:avLst/>
          </a:prstGeom>
          <a:noFill/>
          <a:ln w="31750">
            <a:solidFill>
              <a:srgbClr val="F2B84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21208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 •  First Year  •  Beginner Friendly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 Career Shaper™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778240" y="3840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778240" y="384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Condition?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 </a:t>
            </a:r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statement that is either True or False — programs use it to decide what to do next.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301752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comparison operators like ==, &gt;, &lt;, &gt;=, &lt;=.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of a condition is always True or False.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branch — they take a different path depending on the result.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0" y="2011680"/>
            <a:ext cx="530352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20840" y="2286000"/>
            <a:ext cx="658368" cy="658368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11" name="Image 1" descr="icons/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08" y="248716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43800" y="231343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Analogy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720840" y="3017520"/>
            <a:ext cx="4709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i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it's raining, take an umbrella.”
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is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it raining?”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it's either True or False, and it decides whether you grab the umbrella.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720840" y="4434840"/>
            <a:ext cx="4709160" cy="1600200"/>
          </a:xfrm>
          <a:prstGeom prst="roundRect">
            <a:avLst>
              <a:gd name="adj" fmla="val 5714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22008" y="459943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6" name="Shape 12"/>
          <p:cNvSpPr/>
          <p:nvPr/>
        </p:nvSpPr>
        <p:spPr>
          <a:xfrm>
            <a:off x="7159752" y="459943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7" name="Shape 13"/>
          <p:cNvSpPr/>
          <p:nvPr/>
        </p:nvSpPr>
        <p:spPr>
          <a:xfrm>
            <a:off x="7397496" y="459943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995160" y="489204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is_raining = True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is_raining: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print("Take an umbrella")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•  Decision Making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778240" y="3840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778240" y="384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if Statement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block of code only when its condition is True. If it's False, the block is skipped entirely.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3017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3337560"/>
            <a:ext cx="5623560" cy="1371600"/>
          </a:xfrm>
          <a:prstGeom prst="roundRect">
            <a:avLst>
              <a:gd name="adj" fmla="val 6667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04088" y="350215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1" name="Shape 8"/>
          <p:cNvSpPr/>
          <p:nvPr/>
        </p:nvSpPr>
        <p:spPr>
          <a:xfrm>
            <a:off x="941832" y="350215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2" name="Shape 9"/>
          <p:cNvSpPr/>
          <p:nvPr/>
        </p:nvSpPr>
        <p:spPr>
          <a:xfrm>
            <a:off x="1179576" y="350215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379476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condition: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runs only if condition is True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489204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colon ( : ) always follows the condition.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indented block runs only when the condition is True.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0" y="2011680"/>
            <a:ext cx="5257800" cy="2926080"/>
          </a:xfrm>
          <a:prstGeom prst="roundRect">
            <a:avLst>
              <a:gd name="adj" fmla="val 3125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60196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7" name="Shape 14"/>
          <p:cNvSpPr/>
          <p:nvPr/>
        </p:nvSpPr>
        <p:spPr>
          <a:xfrm>
            <a:off x="683971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8" name="Shape 15"/>
          <p:cNvSpPr/>
          <p:nvPr/>
        </p:nvSpPr>
        <p:spPr>
          <a:xfrm>
            <a:off x="707745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75120" y="2468880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75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marks &gt;= 40: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print("Pass")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00800" y="5120640"/>
            <a:ext cx="5257800" cy="822960"/>
          </a:xfrm>
          <a:prstGeom prst="roundRect">
            <a:avLst>
              <a:gd name="adj" fmla="val 11111"/>
            </a:avLst>
          </a:prstGeom>
          <a:solidFill>
            <a:srgbClr val="E9FBF0"/>
          </a:solidFill>
          <a:ln w="12700">
            <a:solidFill>
              <a:srgbClr val="4FD67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29400" y="51206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4F"/>
                </a:solidFill>
              </a:rPr>
              <a:t>OUTPUT   </a:t>
            </a:r>
            <a:pPr indent="0" marL="0">
              <a:buNone/>
            </a:pPr>
            <a:r>
              <a:rPr lang="en-US" sz="1400" b="1" dirty="0">
                <a:solidFill>
                  <a:srgbClr val="1E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•  Decision Making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778240" y="3840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778240" y="384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if-else Statement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if-else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one block when the condition is True, and a different block when it's False.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3017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3337560"/>
            <a:ext cx="5623560" cy="1965960"/>
          </a:xfrm>
          <a:prstGeom prst="roundRect">
            <a:avLst>
              <a:gd name="adj" fmla="val 4651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04088" y="350215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1" name="Shape 8"/>
          <p:cNvSpPr/>
          <p:nvPr/>
        </p:nvSpPr>
        <p:spPr>
          <a:xfrm>
            <a:off x="941832" y="350215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2" name="Shape 9"/>
          <p:cNvSpPr/>
          <p:nvPr/>
        </p:nvSpPr>
        <p:spPr>
          <a:xfrm>
            <a:off x="1179576" y="350215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379476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condition: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runs if True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runs if False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54864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of the two blocks always runs — never both, never neither.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0" y="2011680"/>
            <a:ext cx="5257800" cy="2926080"/>
          </a:xfrm>
          <a:prstGeom prst="roundRect">
            <a:avLst>
              <a:gd name="adj" fmla="val 3125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60196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7" name="Shape 14"/>
          <p:cNvSpPr/>
          <p:nvPr/>
        </p:nvSpPr>
        <p:spPr>
          <a:xfrm>
            <a:off x="683971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8" name="Shape 15"/>
          <p:cNvSpPr/>
          <p:nvPr/>
        </p:nvSpPr>
        <p:spPr>
          <a:xfrm>
            <a:off x="707745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75120" y="2468880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= -5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num &gt;= 0: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print("Non-negative")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print("Negative")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00800" y="5120640"/>
            <a:ext cx="5257800" cy="822960"/>
          </a:xfrm>
          <a:prstGeom prst="roundRect">
            <a:avLst>
              <a:gd name="adj" fmla="val 11111"/>
            </a:avLst>
          </a:prstGeom>
          <a:solidFill>
            <a:srgbClr val="E9FBF0"/>
          </a:solidFill>
          <a:ln w="12700">
            <a:solidFill>
              <a:srgbClr val="4FD67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29400" y="51206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4F"/>
                </a:solidFill>
              </a:rPr>
              <a:t>OUTPUT   </a:t>
            </a:r>
            <a:pPr indent="0" marL="0">
              <a:buNone/>
            </a:pPr>
            <a:r>
              <a:rPr lang="en-US" sz="1400" b="1" dirty="0">
                <a:solidFill>
                  <a:srgbClr val="1E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Negative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•  Decision Making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778240" y="3840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778240" y="384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if-elif-else Statement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there are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two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possible outcomes — Python checks each condition in order.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97180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are checked top to bottom.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stops at the first True condition it finds.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else runs only if none of the conditions matched.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0" y="201168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0196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1" name="Shape 8"/>
          <p:cNvSpPr/>
          <p:nvPr/>
        </p:nvSpPr>
        <p:spPr>
          <a:xfrm>
            <a:off x="683971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2" name="Shape 9"/>
          <p:cNvSpPr/>
          <p:nvPr/>
        </p:nvSpPr>
        <p:spPr>
          <a:xfrm>
            <a:off x="707745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75120" y="2468880"/>
            <a:ext cx="4709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= 20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temp &gt; 30: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print("Hot")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temp &gt; 15: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print("Warm")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print("Cold")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Warm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•  Decision Making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778240" y="3840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778240" y="384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if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nested if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if statement placed inside another if — used when one decision depends on another.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97180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if only runs when the outer if is True.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indentation clear so the levels don't get confusing.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nest multiple levels, but keep it simple and readable.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0" y="201168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0196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1" name="Shape 8"/>
          <p:cNvSpPr/>
          <p:nvPr/>
        </p:nvSpPr>
        <p:spPr>
          <a:xfrm>
            <a:off x="683971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2" name="Shape 9"/>
          <p:cNvSpPr/>
          <p:nvPr/>
        </p:nvSpPr>
        <p:spPr>
          <a:xfrm>
            <a:off x="707745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75120" y="2468880"/>
            <a:ext cx="4709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has_id = True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age &gt;= 18: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has_id: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print("Entry allowed")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print("ID required")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print("Too young to enter")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•  Decision Making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778240" y="3840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778240" y="384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Expressions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01168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shorter way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write a simple if-else in a single line — great for quick checks.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3017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3337560"/>
            <a:ext cx="5623560" cy="1188720"/>
          </a:xfrm>
          <a:prstGeom prst="roundRect">
            <a:avLst>
              <a:gd name="adj" fmla="val 7692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04088" y="350215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1" name="Shape 8"/>
          <p:cNvSpPr/>
          <p:nvPr/>
        </p:nvSpPr>
        <p:spPr>
          <a:xfrm>
            <a:off x="941832" y="350215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2" name="Shape 9"/>
          <p:cNvSpPr/>
          <p:nvPr/>
        </p:nvSpPr>
        <p:spPr>
          <a:xfrm>
            <a:off x="1179576" y="350215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379476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value_if_true if condition else value_if_false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475488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same logic as if-else, just condensed.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simple, one-line decisions.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it for complex conditions — readability matters.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0" y="2011680"/>
            <a:ext cx="5257800" cy="2926080"/>
          </a:xfrm>
          <a:prstGeom prst="roundRect">
            <a:avLst>
              <a:gd name="adj" fmla="val 3125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60196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7" name="Shape 14"/>
          <p:cNvSpPr/>
          <p:nvPr/>
        </p:nvSpPr>
        <p:spPr>
          <a:xfrm>
            <a:off x="683971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8" name="Shape 15"/>
          <p:cNvSpPr/>
          <p:nvPr/>
        </p:nvSpPr>
        <p:spPr>
          <a:xfrm>
            <a:off x="707745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75120" y="2468880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= "Adult" if age &gt;= 18 else "Minor"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print(status)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00800" y="5120640"/>
            <a:ext cx="5257800" cy="822960"/>
          </a:xfrm>
          <a:prstGeom prst="roundRect">
            <a:avLst>
              <a:gd name="adj" fmla="val 11111"/>
            </a:avLst>
          </a:prstGeom>
          <a:solidFill>
            <a:srgbClr val="E9FBF0"/>
          </a:solidFill>
          <a:ln w="12700">
            <a:solidFill>
              <a:srgbClr val="4FD67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29400" y="51206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4F"/>
                </a:solidFill>
              </a:rPr>
              <a:t>OUTPUT   </a:t>
            </a:r>
            <a:pPr indent="0" marL="0">
              <a:buNone/>
            </a:pPr>
            <a:r>
              <a:rPr lang="en-US" sz="1400" b="1" dirty="0">
                <a:solidFill>
                  <a:srgbClr val="1E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Adult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•  Decision Making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591056" cy="33832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</p:spPr>
      </p:sp>
      <p:pic>
        <p:nvPicPr>
          <p:cNvPr id="3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5760"/>
            <a:ext cx="1371600" cy="19202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966960" y="-914400"/>
            <a:ext cx="3291840" cy="3291840"/>
          </a:xfrm>
          <a:prstGeom prst="ellipse">
            <a:avLst/>
          </a:prstGeom>
          <a:solidFill>
            <a:srgbClr val="2E4057">
              <a:alpha val="4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3840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2B84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778240" y="384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84632" y="1847088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86000"/>
            <a:ext cx="365760" cy="36576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292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33272" y="2249424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student's marks in a variable.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3108960"/>
            <a:ext cx="365760" cy="36576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292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33272" y="3072384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marks is 40 or above.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931920"/>
            <a:ext cx="365760" cy="36576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292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3895344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condition is True, print “Pass.”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754880"/>
            <a:ext cx="365760" cy="36576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0292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033272" y="4718304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(else), print “Fail.”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0" y="2011680"/>
            <a:ext cx="5257800" cy="2514600"/>
          </a:xfrm>
          <a:prstGeom prst="roundRect">
            <a:avLst>
              <a:gd name="adj" fmla="val 3636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60196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23" name="Shape 20"/>
          <p:cNvSpPr/>
          <p:nvPr/>
        </p:nvSpPr>
        <p:spPr>
          <a:xfrm>
            <a:off x="683971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4" name="Shape 21"/>
          <p:cNvSpPr/>
          <p:nvPr/>
        </p:nvSpPr>
        <p:spPr>
          <a:xfrm>
            <a:off x="707745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675120" y="2468880"/>
            <a:ext cx="4709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75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marks &gt;= 40: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print("Pass")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print("Fail")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0" y="470916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262B5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629400" y="482803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2B84B"/>
                </a:solidFill>
              </a:rPr>
              <a:t>OUTPUT
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•  Decision Making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0392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03920" y="3840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PROGRAMS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/ Negative Number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9659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a number is positive or negative.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2697480"/>
            <a:ext cx="54864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926080"/>
            <a:ext cx="640080" cy="64008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0" name="Image 1" descr="icons/plusSqu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07238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96265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777240" y="379476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92" y="3894612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37947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to check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263640" y="20116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46480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7" name="Shape 12"/>
          <p:cNvSpPr/>
          <p:nvPr/>
        </p:nvSpPr>
        <p:spPr>
          <a:xfrm>
            <a:off x="670255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8" name="Shape 13"/>
          <p:cNvSpPr/>
          <p:nvPr/>
        </p:nvSpPr>
        <p:spPr>
          <a:xfrm>
            <a:off x="694029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537960" y="246888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= float(input("Enter a number: "))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num &gt;= 0: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print("Positive number")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print("Negative number")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Sample Run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Enter a number: -7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Negative number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•  Decision Making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0392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03920" y="3840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PROGRAMS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 / Odd Number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9659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a whole number is even or odd.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2697480"/>
            <a:ext cx="54864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926080"/>
            <a:ext cx="640080" cy="64008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0" name="Image 1" descr="icons/sy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07238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96265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777240" y="379476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92" y="3894612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37947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number to check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263640" y="20116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46480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7" name="Shape 12"/>
          <p:cNvSpPr/>
          <p:nvPr/>
        </p:nvSpPr>
        <p:spPr>
          <a:xfrm>
            <a:off x="670255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8" name="Shape 13"/>
          <p:cNvSpPr/>
          <p:nvPr/>
        </p:nvSpPr>
        <p:spPr>
          <a:xfrm>
            <a:off x="694029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537960" y="246888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= int(input("Enter a number: "))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num % 2 == 0: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print("Even number")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print("Odd number")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Sample Run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Enter a number: 7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Odd number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•  Decision Making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0392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03920" y="3840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PROGRAMS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Largest of Two Numbers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9659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two numbers and prints the larger one.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2697480"/>
            <a:ext cx="54864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926080"/>
            <a:ext cx="640080" cy="64008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0" name="Image 1" descr="icons/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07238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96265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777240" y="379476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92" y="3894612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37947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number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77240" y="436168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6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092" y="4461540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98448" y="43616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number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263640" y="20116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46480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20" name="Shape 14"/>
          <p:cNvSpPr/>
          <p:nvPr/>
        </p:nvSpPr>
        <p:spPr>
          <a:xfrm>
            <a:off x="670255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1" name="Shape 15"/>
          <p:cNvSpPr/>
          <p:nvPr/>
        </p:nvSpPr>
        <p:spPr>
          <a:xfrm>
            <a:off x="694029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537960" y="246888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float(input("Enter first number: "))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float(input("Enter second number: "))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 &gt; b: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print("Largest:", a)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print("Largest:", b)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= 10, b = 25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Largest: 25.0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•  Decision Making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0392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03920" y="3840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PROGRAMS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Largest of Three Numbers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9659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three numbers and prints the largest one.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2697480"/>
            <a:ext cx="54864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926080"/>
            <a:ext cx="640080" cy="64008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0" name="Image 1" descr="icons/listU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07238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96265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777240" y="379476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92" y="3894612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37947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number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77240" y="436168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6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092" y="4461540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98448" y="43616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number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777240" y="492861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9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092" y="5028468"/>
            <a:ext cx="184343" cy="184343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298448" y="492861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number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263640" y="20116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46480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23" name="Shape 16"/>
          <p:cNvSpPr/>
          <p:nvPr/>
        </p:nvSpPr>
        <p:spPr>
          <a:xfrm>
            <a:off x="670255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4" name="Shape 17"/>
          <p:cNvSpPr/>
          <p:nvPr/>
        </p:nvSpPr>
        <p:spPr>
          <a:xfrm>
            <a:off x="694029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6537960" y="246888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float(input("Enter first number: "))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float(input("Enter second number: "))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float(input("Enter third number: "))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 &gt;= b and a &gt;= c: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print("Largest:", a)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b &gt;= a and b &gt;= c: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print("Largest:", b)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print("Largest:", c)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a=5, b=12, c=9 → Largest: 12.0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•  Decision Making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0392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03920" y="3840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PROGRAMS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Voting Eligibility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9659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someone is old enough to vote.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2697480"/>
            <a:ext cx="54864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926080"/>
            <a:ext cx="640080" cy="64008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0" name="Image 1" descr="icons/id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07238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96265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777240" y="379476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92" y="3894612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37947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Applicant's age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263640" y="20116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46480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7" name="Shape 12"/>
          <p:cNvSpPr/>
          <p:nvPr/>
        </p:nvSpPr>
        <p:spPr>
          <a:xfrm>
            <a:off x="670255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8" name="Shape 13"/>
          <p:cNvSpPr/>
          <p:nvPr/>
        </p:nvSpPr>
        <p:spPr>
          <a:xfrm>
            <a:off x="694029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537960" y="246888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int(input("Enter your age: "))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age &gt;= 18: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print("You are eligible to vote")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print("You are not eligible to vote")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Sample Run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Enter your age: 16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You are not eligible to vote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•  Decision Making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0392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03920" y="3840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PROGRAMS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Calculator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9659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marks into a letter grade.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2697480"/>
            <a:ext cx="54864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926080"/>
            <a:ext cx="640080" cy="64008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0" name="Image 1" descr="icons/graduationC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07238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96265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777240" y="379476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92" y="3894612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37947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obtained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263640" y="20116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46480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7" name="Shape 12"/>
          <p:cNvSpPr/>
          <p:nvPr/>
        </p:nvSpPr>
        <p:spPr>
          <a:xfrm>
            <a:off x="670255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8" name="Shape 13"/>
          <p:cNvSpPr/>
          <p:nvPr/>
        </p:nvSpPr>
        <p:spPr>
          <a:xfrm>
            <a:off x="694029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537960" y="246888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int(input("Enter your marks: "))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marks &gt;= 90: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print("Grade: A")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marks &gt;= 75: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print("Grade: B")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marks &gt;= 50: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print("Grade: C")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print("Grade: F")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Enter your marks: 82 → Grade: B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•  Decision Making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0392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03920" y="3840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PROGRAMS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Electricity Bill Calculator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9659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bill based on units consumed, using slab rates.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2697480"/>
            <a:ext cx="54864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926080"/>
            <a:ext cx="640080" cy="64008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0" name="Image 1" descr="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07238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96265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777240" y="379476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92" y="3894612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37947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of electricity consumed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263640" y="20116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46480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17" name="Shape 12"/>
          <p:cNvSpPr/>
          <p:nvPr/>
        </p:nvSpPr>
        <p:spPr>
          <a:xfrm>
            <a:off x="670255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8" name="Shape 13"/>
          <p:cNvSpPr/>
          <p:nvPr/>
        </p:nvSpPr>
        <p:spPr>
          <a:xfrm>
            <a:off x="694029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537960" y="246888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units = int(input("Enter units consumed: "))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units &lt;= 100: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bill = units * 5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units &lt;= 300: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bill = 100*5 + (units-100)*7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bill = 100*5 + 200*7 + (units-300)*10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print(f"Electricity Bill: {bill}")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units = 250 → Bill: 1550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•  Decision Making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192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03920" y="384048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2E4057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503920" y="3840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PROGRAMS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704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Login System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84632" y="1828800"/>
            <a:ext cx="82296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9659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 username and password against stored values.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2697480"/>
            <a:ext cx="54864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926080"/>
            <a:ext cx="640080" cy="64008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0" name="Image 1" descr="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07238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96265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777240" y="379476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92" y="3894612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37947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77240" y="436168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6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092" y="4461540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98448" y="43616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263640" y="20116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214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464808" y="2176272"/>
            <a:ext cx="128016" cy="128016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20" name="Shape 14"/>
          <p:cNvSpPr/>
          <p:nvPr/>
        </p:nvSpPr>
        <p:spPr>
          <a:xfrm>
            <a:off x="6702552" y="2176272"/>
            <a:ext cx="128016" cy="128016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21" name="Shape 15"/>
          <p:cNvSpPr/>
          <p:nvPr/>
        </p:nvSpPr>
        <p:spPr>
          <a:xfrm>
            <a:off x="6940296" y="2176272"/>
            <a:ext cx="128016" cy="128016"/>
          </a:xfrm>
          <a:prstGeom prst="ellipse">
            <a:avLst/>
          </a:prstGeom>
          <a:solidFill>
            <a:srgbClr val="4FD67A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537960" y="246888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 = input("Enter username: ")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= input("Enter password: ")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username == "admin" and password == "1234":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print("Login successful")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print("Invalid username or password")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username=admin, password=1234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Login successful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547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•  Decision Making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591056" cy="33832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</p:spPr>
      </p:sp>
      <p:pic>
        <p:nvPicPr>
          <p:cNvPr id="3" name="Image 0" descr="asset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65760"/>
            <a:ext cx="1371600" cy="19202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1280160" y="3657600"/>
            <a:ext cx="3657600" cy="3657600"/>
          </a:xfrm>
          <a:prstGeom prst="ellipse">
            <a:avLst/>
          </a:prstGeom>
          <a:solidFill>
            <a:srgbClr val="2E4057">
              <a:alpha val="4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0332720" y="-1280160"/>
            <a:ext cx="3108960" cy="3108960"/>
          </a:xfrm>
          <a:prstGeom prst="ellipse">
            <a:avLst/>
          </a:prstGeom>
          <a:solidFill>
            <a:srgbClr val="F2B84B">
              <a:alpha val="18000"/>
            </a:srgb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22860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Programs Can Now Decide!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310896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know how to use if, if-else, if-elif-else, nested conditions, and shorthand expressions to make real decisions.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57600" y="4206240"/>
            <a:ext cx="4846320" cy="502920"/>
          </a:xfrm>
          <a:prstGeom prst="roundRect">
            <a:avLst>
              <a:gd name="adj" fmla="val 49091"/>
            </a:avLst>
          </a:prstGeom>
          <a:solidFill>
            <a:srgbClr val="F2B84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657600" y="4206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MODULE 5 — LOOPS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HCLTech Career Shaper™  •  Supercharging Progress™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2026-09-26T01:00:12Z</dcterms:created>
  <dcterms:modified xsi:type="dcterms:W3CDTF">2026-09-26T01:00:12Z</dcterms:modified>
</cp:coreProperties>
</file>